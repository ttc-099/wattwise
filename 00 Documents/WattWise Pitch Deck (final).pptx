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6" r:id="rId10"/>
    <p:sldId id="277" r:id="rId11"/>
    <p:sldId id="278" r:id="rId12"/>
    <p:sldId id="267" r:id="rId13"/>
    <p:sldId id="268" r:id="rId14"/>
    <p:sldId id="279" r:id="rId15"/>
    <p:sldId id="280" r:id="rId16"/>
    <p:sldId id="275" r:id="rId17"/>
    <p:sldId id="281" r:id="rId18"/>
    <p:sldId id="282" r:id="rId19"/>
    <p:sldId id="28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6B3D"/>
    <a:srgbClr val="FA4412"/>
    <a:srgbClr val="FA86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5D2755-EAF4-48DB-87AC-368907A93F98}" v="2" dt="2026-10-21T20:45:00.159"/>
    <p1510:client id="{876DA400-4AB3-418E-8499-9266F232606B}" v="6" dt="2026-10-21T21:09:45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i Chong (satc1g24)" userId="25a1ca38-08ff-46ce-bfdf-6d4151510b9a" providerId="ADAL" clId="{257AD2E9-DEE2-4212-A59B-71ADFD285D22}"/>
    <pc:docChg chg="undo custSel modSld">
      <pc:chgData name="Sheri Chong (satc1g24)" userId="25a1ca38-08ff-46ce-bfdf-6d4151510b9a" providerId="ADAL" clId="{257AD2E9-DEE2-4212-A59B-71ADFD285D22}" dt="2026-10-21T21:10:29.707" v="407" actId="1035"/>
      <pc:docMkLst>
        <pc:docMk/>
      </pc:docMkLst>
      <pc:sldChg chg="addSp modSp mod">
        <pc:chgData name="Sheri Chong (satc1g24)" userId="25a1ca38-08ff-46ce-bfdf-6d4151510b9a" providerId="ADAL" clId="{257AD2E9-DEE2-4212-A59B-71ADFD285D22}" dt="2026-10-21T20:48:00.699" v="337" actId="732"/>
        <pc:sldMkLst>
          <pc:docMk/>
          <pc:sldMk cId="0" sldId="267"/>
        </pc:sldMkLst>
        <pc:spChg chg="mod">
          <ac:chgData name="Sheri Chong (satc1g24)" userId="25a1ca38-08ff-46ce-bfdf-6d4151510b9a" providerId="ADAL" clId="{257AD2E9-DEE2-4212-A59B-71ADFD285D22}" dt="2026-10-21T20:42:12.407" v="286" actId="255"/>
          <ac:spMkLst>
            <pc:docMk/>
            <pc:sldMk cId="0" sldId="267"/>
            <ac:spMk id="31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42:20.571" v="296" actId="1036"/>
          <ac:spMkLst>
            <pc:docMk/>
            <pc:sldMk cId="0" sldId="267"/>
            <ac:spMk id="33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42:30.990" v="297" actId="403"/>
          <ac:spMkLst>
            <pc:docMk/>
            <pc:sldMk cId="0" sldId="267"/>
            <ac:spMk id="34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42:20.571" v="296" actId="1036"/>
          <ac:spMkLst>
            <pc:docMk/>
            <pc:sldMk cId="0" sldId="267"/>
            <ac:spMk id="36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42:30.990" v="297" actId="403"/>
          <ac:spMkLst>
            <pc:docMk/>
            <pc:sldMk cId="0" sldId="267"/>
            <ac:spMk id="37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42:20.571" v="296" actId="1036"/>
          <ac:spMkLst>
            <pc:docMk/>
            <pc:sldMk cId="0" sldId="267"/>
            <ac:spMk id="39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42:30.990" v="297" actId="403"/>
          <ac:spMkLst>
            <pc:docMk/>
            <pc:sldMk cId="0" sldId="267"/>
            <ac:spMk id="40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42:20.571" v="296" actId="1036"/>
          <ac:spMkLst>
            <pc:docMk/>
            <pc:sldMk cId="0" sldId="267"/>
            <ac:spMk id="42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42:30.990" v="297" actId="403"/>
          <ac:spMkLst>
            <pc:docMk/>
            <pc:sldMk cId="0" sldId="267"/>
            <ac:spMk id="43" creationId="{00000000-0000-0000-0000-000000000000}"/>
          </ac:spMkLst>
        </pc:spChg>
        <pc:picChg chg="add mod modCrop">
          <ac:chgData name="Sheri Chong (satc1g24)" userId="25a1ca38-08ff-46ce-bfdf-6d4151510b9a" providerId="ADAL" clId="{257AD2E9-DEE2-4212-A59B-71ADFD285D22}" dt="2026-10-21T20:48:00.699" v="337" actId="732"/>
          <ac:picMkLst>
            <pc:docMk/>
            <pc:sldMk cId="0" sldId="267"/>
            <ac:picMk id="4" creationId="{0206EA2F-C07F-9383-682C-65B8D5FDAA91}"/>
          </ac:picMkLst>
        </pc:picChg>
        <pc:picChg chg="mod">
          <ac:chgData name="Sheri Chong (satc1g24)" userId="25a1ca38-08ff-46ce-bfdf-6d4151510b9a" providerId="ADAL" clId="{257AD2E9-DEE2-4212-A59B-71ADFD285D22}" dt="2026-10-21T20:42:20.571" v="296" actId="1036"/>
          <ac:picMkLst>
            <pc:docMk/>
            <pc:sldMk cId="0" sldId="267"/>
            <ac:picMk id="32" creationId="{00000000-0000-0000-0000-000000000000}"/>
          </ac:picMkLst>
        </pc:picChg>
        <pc:picChg chg="mod">
          <ac:chgData name="Sheri Chong (satc1g24)" userId="25a1ca38-08ff-46ce-bfdf-6d4151510b9a" providerId="ADAL" clId="{257AD2E9-DEE2-4212-A59B-71ADFD285D22}" dt="2026-10-21T20:44:51.916" v="298" actId="14826"/>
          <ac:picMkLst>
            <pc:docMk/>
            <pc:sldMk cId="0" sldId="267"/>
            <ac:picMk id="35" creationId="{00000000-0000-0000-0000-000000000000}"/>
          </ac:picMkLst>
        </pc:picChg>
        <pc:picChg chg="mod">
          <ac:chgData name="Sheri Chong (satc1g24)" userId="25a1ca38-08ff-46ce-bfdf-6d4151510b9a" providerId="ADAL" clId="{257AD2E9-DEE2-4212-A59B-71ADFD285D22}" dt="2026-10-21T20:42:20.571" v="296" actId="1036"/>
          <ac:picMkLst>
            <pc:docMk/>
            <pc:sldMk cId="0" sldId="267"/>
            <ac:picMk id="38" creationId="{00000000-0000-0000-0000-000000000000}"/>
          </ac:picMkLst>
        </pc:picChg>
        <pc:picChg chg="mod modCrop">
          <ac:chgData name="Sheri Chong (satc1g24)" userId="25a1ca38-08ff-46ce-bfdf-6d4151510b9a" providerId="ADAL" clId="{257AD2E9-DEE2-4212-A59B-71ADFD285D22}" dt="2026-10-21T20:45:29.391" v="306" actId="1076"/>
          <ac:picMkLst>
            <pc:docMk/>
            <pc:sldMk cId="0" sldId="267"/>
            <ac:picMk id="41" creationId="{00000000-0000-0000-0000-000000000000}"/>
          </ac:picMkLst>
        </pc:picChg>
      </pc:sldChg>
      <pc:sldChg chg="addSp delSp modSp mod">
        <pc:chgData name="Sheri Chong (satc1g24)" userId="25a1ca38-08ff-46ce-bfdf-6d4151510b9a" providerId="ADAL" clId="{257AD2E9-DEE2-4212-A59B-71ADFD285D22}" dt="2026-10-21T20:47:19.685" v="319" actId="21"/>
        <pc:sldMkLst>
          <pc:docMk/>
          <pc:sldMk cId="0" sldId="268"/>
        </pc:sldMkLst>
        <pc:picChg chg="add del mod modCrop">
          <ac:chgData name="Sheri Chong (satc1g24)" userId="25a1ca38-08ff-46ce-bfdf-6d4151510b9a" providerId="ADAL" clId="{257AD2E9-DEE2-4212-A59B-71ADFD285D22}" dt="2026-10-21T20:47:19.685" v="319" actId="21"/>
          <ac:picMkLst>
            <pc:docMk/>
            <pc:sldMk cId="0" sldId="268"/>
            <ac:picMk id="8" creationId="{016EA7DF-F81D-5A8E-EF54-D346CA0DC418}"/>
          </ac:picMkLst>
        </pc:picChg>
      </pc:sldChg>
      <pc:sldChg chg="modSp mod">
        <pc:chgData name="Sheri Chong (satc1g24)" userId="25a1ca38-08ff-46ce-bfdf-6d4151510b9a" providerId="ADAL" clId="{257AD2E9-DEE2-4212-A59B-71ADFD285D22}" dt="2026-10-21T17:25:48.425" v="192" actId="207"/>
        <pc:sldMkLst>
          <pc:docMk/>
          <pc:sldMk cId="0" sldId="271"/>
        </pc:sldMkLst>
        <pc:spChg chg="mod">
          <ac:chgData name="Sheri Chong (satc1g24)" userId="25a1ca38-08ff-46ce-bfdf-6d4151510b9a" providerId="ADAL" clId="{257AD2E9-DEE2-4212-A59B-71ADFD285D22}" dt="2026-10-21T17:25:25.500" v="190" actId="255"/>
          <ac:spMkLst>
            <pc:docMk/>
            <pc:sldMk cId="0" sldId="271"/>
            <ac:spMk id="6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17:25:48.425" v="192" actId="207"/>
          <ac:spMkLst>
            <pc:docMk/>
            <pc:sldMk cId="0" sldId="271"/>
            <ac:spMk id="8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17:25:25.500" v="190" actId="255"/>
          <ac:spMkLst>
            <pc:docMk/>
            <pc:sldMk cId="0" sldId="271"/>
            <ac:spMk id="10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17:25:25.500" v="190" actId="255"/>
          <ac:spMkLst>
            <pc:docMk/>
            <pc:sldMk cId="0" sldId="271"/>
            <ac:spMk id="12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17:09:22.011" v="62" actId="1035"/>
          <ac:spMkLst>
            <pc:docMk/>
            <pc:sldMk cId="0" sldId="271"/>
            <ac:spMk id="13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17:09:22.011" v="62" actId="1035"/>
          <ac:spMkLst>
            <pc:docMk/>
            <pc:sldMk cId="0" sldId="271"/>
            <ac:spMk id="14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17:09:22.011" v="62" actId="1035"/>
          <ac:spMkLst>
            <pc:docMk/>
            <pc:sldMk cId="0" sldId="271"/>
            <ac:spMk id="15" creationId="{00000000-0000-0000-0000-000000000000}"/>
          </ac:spMkLst>
        </pc:spChg>
      </pc:sldChg>
      <pc:sldChg chg="modSp mod">
        <pc:chgData name="Sheri Chong (satc1g24)" userId="25a1ca38-08ff-46ce-bfdf-6d4151510b9a" providerId="ADAL" clId="{257AD2E9-DEE2-4212-A59B-71ADFD285D22}" dt="2026-10-21T21:10:29.707" v="407" actId="1035"/>
        <pc:sldMkLst>
          <pc:docMk/>
          <pc:sldMk cId="0" sldId="274"/>
        </pc:sldMkLst>
        <pc:spChg chg="mod">
          <ac:chgData name="Sheri Chong (satc1g24)" userId="25a1ca38-08ff-46ce-bfdf-6d4151510b9a" providerId="ADAL" clId="{257AD2E9-DEE2-4212-A59B-71ADFD285D22}" dt="2026-10-21T21:10:16.005" v="406" actId="1036"/>
          <ac:spMkLst>
            <pc:docMk/>
            <pc:sldMk cId="0" sldId="274"/>
            <ac:spMk id="6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1:10:29.707" v="407" actId="1035"/>
          <ac:spMkLst>
            <pc:docMk/>
            <pc:sldMk cId="0" sldId="274"/>
            <ac:spMk id="46" creationId="{00000000-0000-0000-0000-000000000000}"/>
          </ac:spMkLst>
        </pc:spChg>
        <pc:graphicFrameChg chg="mod">
          <ac:chgData name="Sheri Chong (satc1g24)" userId="25a1ca38-08ff-46ce-bfdf-6d4151510b9a" providerId="ADAL" clId="{257AD2E9-DEE2-4212-A59B-71ADFD285D22}" dt="2026-10-21T21:09:45.011" v="382"/>
          <ac:graphicFrameMkLst>
            <pc:docMk/>
            <pc:sldMk cId="0" sldId="274"/>
            <ac:graphicFrameMk id="5" creationId="{00000000-0000-0000-0000-000000000000}"/>
          </ac:graphicFrameMkLst>
        </pc:graphicFrameChg>
      </pc:sldChg>
      <pc:sldChg chg="modSp mod">
        <pc:chgData name="Sheri Chong (satc1g24)" userId="25a1ca38-08ff-46ce-bfdf-6d4151510b9a" providerId="ADAL" clId="{257AD2E9-DEE2-4212-A59B-71ADFD285D22}" dt="2026-10-21T20:32:25.050" v="213" actId="403"/>
        <pc:sldMkLst>
          <pc:docMk/>
          <pc:sldMk cId="0" sldId="275"/>
        </pc:sldMkLst>
        <pc:spChg chg="mod">
          <ac:chgData name="Sheri Chong (satc1g24)" userId="25a1ca38-08ff-46ce-bfdf-6d4151510b9a" providerId="ADAL" clId="{257AD2E9-DEE2-4212-A59B-71ADFD285D22}" dt="2026-10-21T20:18:53.946" v="209" actId="1076"/>
          <ac:spMkLst>
            <pc:docMk/>
            <pc:sldMk cId="0" sldId="275"/>
            <ac:spMk id="7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18:53.946" v="209" actId="1076"/>
          <ac:spMkLst>
            <pc:docMk/>
            <pc:sldMk cId="0" sldId="275"/>
            <ac:spMk id="8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32:25.050" v="213" actId="403"/>
          <ac:spMkLst>
            <pc:docMk/>
            <pc:sldMk cId="0" sldId="275"/>
            <ac:spMk id="9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32:25.050" v="213" actId="403"/>
          <ac:spMkLst>
            <pc:docMk/>
            <pc:sldMk cId="0" sldId="275"/>
            <ac:spMk id="10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32:25.050" v="213" actId="403"/>
          <ac:spMkLst>
            <pc:docMk/>
            <pc:sldMk cId="0" sldId="275"/>
            <ac:spMk id="11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18:03.408" v="198" actId="1035"/>
          <ac:spMkLst>
            <pc:docMk/>
            <pc:sldMk cId="0" sldId="275"/>
            <ac:spMk id="13" creationId="{00000000-0000-0000-0000-000000000000}"/>
          </ac:spMkLst>
        </pc:spChg>
      </pc:sldChg>
      <pc:sldChg chg="modSp mod">
        <pc:chgData name="Sheri Chong (satc1g24)" userId="25a1ca38-08ff-46ce-bfdf-6d4151510b9a" providerId="ADAL" clId="{257AD2E9-DEE2-4212-A59B-71ADFD285D22}" dt="2026-10-21T20:59:33.431" v="370" actId="1035"/>
        <pc:sldMkLst>
          <pc:docMk/>
          <pc:sldMk cId="0" sldId="277"/>
        </pc:sldMkLst>
        <pc:spChg chg="mod">
          <ac:chgData name="Sheri Chong (satc1g24)" userId="25a1ca38-08ff-46ce-bfdf-6d4151510b9a" providerId="ADAL" clId="{257AD2E9-DEE2-4212-A59B-71ADFD285D22}" dt="2026-10-21T20:59:21.857" v="361" actId="1035"/>
          <ac:spMkLst>
            <pc:docMk/>
            <pc:sldMk cId="0" sldId="277"/>
            <ac:spMk id="5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59:21.857" v="361" actId="1035"/>
          <ac:spMkLst>
            <pc:docMk/>
            <pc:sldMk cId="0" sldId="277"/>
            <ac:spMk id="6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59:33.431" v="370" actId="1035"/>
          <ac:spMkLst>
            <pc:docMk/>
            <pc:sldMk cId="0" sldId="277"/>
            <ac:spMk id="8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59:21.857" v="361" actId="1035"/>
          <ac:spMkLst>
            <pc:docMk/>
            <pc:sldMk cId="0" sldId="277"/>
            <ac:spMk id="9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59:21.857" v="361" actId="1035"/>
          <ac:spMkLst>
            <pc:docMk/>
            <pc:sldMk cId="0" sldId="277"/>
            <ac:spMk id="10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59:33.431" v="370" actId="1035"/>
          <ac:spMkLst>
            <pc:docMk/>
            <pc:sldMk cId="0" sldId="277"/>
            <ac:spMk id="11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59:03.285" v="345" actId="1076"/>
          <ac:spMkLst>
            <pc:docMk/>
            <pc:sldMk cId="0" sldId="277"/>
            <ac:spMk id="12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59:33.431" v="370" actId="1035"/>
          <ac:spMkLst>
            <pc:docMk/>
            <pc:sldMk cId="0" sldId="277"/>
            <ac:spMk id="14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59:21.857" v="361" actId="1035"/>
          <ac:spMkLst>
            <pc:docMk/>
            <pc:sldMk cId="0" sldId="277"/>
            <ac:spMk id="15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59:33.431" v="370" actId="1035"/>
          <ac:spMkLst>
            <pc:docMk/>
            <pc:sldMk cId="0" sldId="277"/>
            <ac:spMk id="17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59:21.857" v="361" actId="1035"/>
          <ac:spMkLst>
            <pc:docMk/>
            <pc:sldMk cId="0" sldId="277"/>
            <ac:spMk id="18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59:03.285" v="345" actId="1076"/>
          <ac:spMkLst>
            <pc:docMk/>
            <pc:sldMk cId="0" sldId="277"/>
            <ac:spMk id="19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20:59:33.431" v="370" actId="1035"/>
          <ac:spMkLst>
            <pc:docMk/>
            <pc:sldMk cId="0" sldId="277"/>
            <ac:spMk id="20" creationId="{00000000-0000-0000-0000-000000000000}"/>
          </ac:spMkLst>
        </pc:spChg>
        <pc:picChg chg="mod">
          <ac:chgData name="Sheri Chong (satc1g24)" userId="25a1ca38-08ff-46ce-bfdf-6d4151510b9a" providerId="ADAL" clId="{257AD2E9-DEE2-4212-A59B-71ADFD285D22}" dt="2026-10-21T20:58:56.317" v="343" actId="1076"/>
          <ac:picMkLst>
            <pc:docMk/>
            <pc:sldMk cId="0" sldId="277"/>
            <ac:picMk id="2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928462709284626E-2"/>
          <c:y val="0"/>
          <c:w val="0.95814307458143078"/>
          <c:h val="0.8251157407407407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Solar given away, % of the year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B7AA9C"/>
              </a:solidFill>
            </c:spPr>
            <c:extLst>
              <c:ext xmlns:c16="http://schemas.microsoft.com/office/drawing/2014/chart" uri="{C3380CC4-5D6E-409C-BE32-E72D297353CC}">
                <c16:uniqueId val="{00000001-95B5-4C17-AC1F-F476E22B0548}"/>
              </c:ext>
            </c:extLst>
          </c:dPt>
          <c:dPt>
            <c:idx val="1"/>
            <c:invertIfNegative val="1"/>
            <c:bubble3D val="0"/>
            <c:spPr>
              <a:solidFill>
                <a:srgbClr val="5E5048"/>
              </a:solidFill>
            </c:spPr>
            <c:extLst>
              <c:ext xmlns:c16="http://schemas.microsoft.com/office/drawing/2014/chart" uri="{C3380CC4-5D6E-409C-BE32-E72D297353CC}">
                <c16:uniqueId val="{00000003-95B5-4C17-AC1F-F476E22B0548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95B5-4C17-AC1F-F476E22B054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Fixed yearly split</c:v>
                </c:pt>
                <c:pt idx="1">
                  <c:v>Copy last year</c:v>
                </c:pt>
                <c:pt idx="2">
                  <c:v>WattWise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6.05</c:v>
                </c:pt>
                <c:pt idx="1">
                  <c:v>1.95</c:v>
                </c:pt>
                <c:pt idx="2">
                  <c:v>1.34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95B5-4C17-AC1F-F476E22B05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Fixed split</c:v>
                </c:pt>
              </c:strCache>
            </c:strRef>
          </c:tx>
          <c:spPr>
            <a:solidFill>
              <a:srgbClr val="B7AA9C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buyer (821 cases)</c:v>
                </c:pt>
                <c:pt idx="1">
                  <c:v>2 buyers (407)</c:v>
                </c:pt>
                <c:pt idx="2">
                  <c:v>2 buyers, humid Texas site (42)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5.98</c:v>
                </c:pt>
                <c:pt idx="1">
                  <c:v>6.05</c:v>
                </c:pt>
                <c:pt idx="2">
                  <c:v>3.83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A94-4CA4-A099-DF9796832D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Copy last year</c:v>
                </c:pt>
              </c:strCache>
            </c:strRef>
          </c:tx>
          <c:spPr>
            <a:solidFill>
              <a:srgbClr val="5E5048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buyer (821 cases)</c:v>
                </c:pt>
                <c:pt idx="1">
                  <c:v>2 buyers (407)</c:v>
                </c:pt>
                <c:pt idx="2">
                  <c:v>2 buyers, humid Texas site (42)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1.49</c:v>
                </c:pt>
                <c:pt idx="1">
                  <c:v>1.95</c:v>
                </c:pt>
                <c:pt idx="2">
                  <c:v>1.28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A94-4CA4-A099-DF9796832D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WattWise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buyer (821 cases)</c:v>
                </c:pt>
                <c:pt idx="1">
                  <c:v>2 buyers (407)</c:v>
                </c:pt>
                <c:pt idx="2">
                  <c:v>2 buyers, humid Texas site (42)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0.95</c:v>
                </c:pt>
                <c:pt idx="1">
                  <c:v>1.34</c:v>
                </c:pt>
                <c:pt idx="2">
                  <c:v>0.85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A94-4CA4-A099-DF9796832D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.5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Elmina's modelled size (1,368 roofs)</c:v>
                </c:pt>
              </c:strCache>
            </c:strRef>
          </c:tx>
          <c:spPr>
            <a:solidFill>
              <a:srgbClr val="F9B915"/>
            </a:solidFill>
          </c:spPr>
          <c:invertIfNegative val="1"/>
          <c:dLbls>
            <c:numFmt formatCode="&quot;RM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 sen/kWh</c:v>
                </c:pt>
                <c:pt idx="1">
                  <c:v>25 sen/kWh</c:v>
                </c:pt>
                <c:pt idx="2">
                  <c:v>30 sen/kWh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42</c:v>
                </c:pt>
                <c:pt idx="2">
                  <c:v>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B04-413C-A802-DBFE3D6EE0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SDP's 6,000-home target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Lbls>
            <c:numFmt formatCode="&quot;RM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 sen/kWh</c:v>
                </c:pt>
                <c:pt idx="1">
                  <c:v>25 sen/kWh</c:v>
                </c:pt>
                <c:pt idx="2">
                  <c:v>30 sen/kWh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265</c:v>
                </c:pt>
                <c:pt idx="1">
                  <c:v>184</c:v>
                </c:pt>
                <c:pt idx="2">
                  <c:v>108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B04-413C-A802-DBFE3D6EE07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Extra income, RM thousand a year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28B7-43D2-B109-8A7AA17229E4}"/>
              </c:ext>
            </c:extLst>
          </c:dPt>
          <c:dPt>
            <c:idx val="1"/>
            <c:invertIfNegative val="1"/>
            <c:bubble3D val="0"/>
            <c:spPr>
              <a:solidFill>
                <a:srgbClr val="EA6B3D"/>
              </a:solidFill>
            </c:spPr>
            <c:extLst>
              <c:ext xmlns:c16="http://schemas.microsoft.com/office/drawing/2014/chart" uri="{C3380CC4-5D6E-409C-BE32-E72D297353CC}">
                <c16:uniqueId val="{00000003-28B7-43D2-B109-8A7AA17229E4}"/>
              </c:ext>
            </c:extLst>
          </c:dPt>
          <c:dPt>
            <c:idx val="2"/>
            <c:invertIfNegative val="1"/>
            <c:bubble3D val="0"/>
            <c:spPr>
              <a:solidFill>
                <a:srgbClr val="AD5330"/>
              </a:solidFill>
            </c:spPr>
            <c:extLst>
              <c:ext xmlns:c16="http://schemas.microsoft.com/office/drawing/2014/chart" uri="{C3380CC4-5D6E-409C-BE32-E72D297353CC}">
                <c16:uniqueId val="{00000005-28B7-43D2-B109-8A7AA17229E4}"/>
              </c:ext>
            </c:extLst>
          </c:dPt>
          <c:dLbls>
            <c:numFmt formatCode="&quot;RM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 sen/kWh</c:v>
                </c:pt>
                <c:pt idx="1">
                  <c:v>25 sen/kWh</c:v>
                </c:pt>
                <c:pt idx="2">
                  <c:v>30 sen/kWh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265</c:v>
                </c:pt>
                <c:pt idx="1">
                  <c:v>184</c:v>
                </c:pt>
                <c:pt idx="2">
                  <c:v>108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28B7-43D2-B109-8A7AA17229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Fixed split</c:v>
                </c:pt>
              </c:strCache>
            </c:strRef>
          </c:tx>
          <c:spPr>
            <a:solidFill>
              <a:srgbClr val="B7AA9C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Today's size (1.0×)</c:v>
                </c:pt>
                <c:pt idx="1">
                  <c:v>10% larger (1.1×)</c:v>
                </c:pt>
                <c:pt idx="2">
                  <c:v>20% larger (1.2×)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6.05</c:v>
                </c:pt>
                <c:pt idx="1">
                  <c:v>11.58</c:v>
                </c:pt>
                <c:pt idx="2">
                  <c:v>17.55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CB6-4A78-A8F8-9DD18052DA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WattWise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Today's size (1.0×)</c:v>
                </c:pt>
                <c:pt idx="1">
                  <c:v>10% larger (1.1×)</c:v>
                </c:pt>
                <c:pt idx="2">
                  <c:v>20% larger (1.2×)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1.34</c:v>
                </c:pt>
                <c:pt idx="1">
                  <c:v>1.88</c:v>
                </c:pt>
                <c:pt idx="2">
                  <c:v>2.17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CB6-4A78-A8F8-9DD18052DA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 buyer (821 cases)</c:v>
                </c:pt>
              </c:strCache>
            </c:strRef>
          </c:tx>
          <c:spPr>
            <a:solidFill>
              <a:srgbClr val="F9B915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Less than a fixed split</c:v>
                </c:pt>
                <c:pt idx="1">
                  <c:v>Less than copying last year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98.5</c:v>
                </c:pt>
                <c:pt idx="1">
                  <c:v>77.2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247-4435-8369-B06F851C0E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buyers (407)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Less than a fixed split</c:v>
                </c:pt>
                <c:pt idx="1">
                  <c:v>Less than copying last year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99.8</c:v>
                </c:pt>
                <c:pt idx="1">
                  <c:v>83.3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247-4435-8369-B06F851C0E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8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6339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of the corrected WattWise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of the corrected WattWise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48919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of the corrected WattWise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of the corrected WattWise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attwise-promax.netlify.app/tests.html#how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github.com/ttc-099/Wattwis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attwise-promax.netlify.app/tests.html" TargetMode="External"/><Relationship Id="rId5" Type="http://schemas.openxmlformats.org/officeDocument/2006/relationships/hyperlink" Target="https://wattwise-promax.netlify.app/admin.html" TargetMode="Externa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attwise-promax.netlify.app/tests.html#a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attwise-promax.netlify.app/tests.html#b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attwise-promax.netlify.app/tests.html#c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attwise-promax.netlify.app/tests.html#d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attwise-promax.netlify.app/tests.html#reference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twork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62454" y="2070103"/>
            <a:ext cx="3421900" cy="2539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99"/>
              </a:lnSpc>
            </a:pPr>
            <a:r>
              <a:rPr sz="1600" b="1">
                <a:solidFill>
                  <a:srgbClr val="000000"/>
                </a:solidFill>
                <a:latin typeface="Calibri"/>
              </a:rPr>
              <a:t>TEAM PROMAX’s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2454" y="2627464"/>
            <a:ext cx="6177341" cy="634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999"/>
              </a:lnSpc>
            </a:pPr>
            <a:r>
              <a:rPr sz="4000" b="1">
                <a:solidFill>
                  <a:srgbClr val="000000"/>
                </a:solidFill>
                <a:latin typeface="Arial Black"/>
              </a:rPr>
              <a:t>WATTWISE: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2454" y="2589365"/>
            <a:ext cx="5365018" cy="14223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599"/>
              </a:lnSpc>
            </a:pPr>
            <a:r>
              <a:rPr sz="4000" b="1">
                <a:solidFill>
                  <a:srgbClr val="000000"/>
                </a:solidFill>
                <a:latin typeface="Arial Black"/>
              </a:rPr>
              <a:t>WATTWISE</a:t>
            </a:r>
            <a:br/>
            <a:r>
              <a:rPr sz="4000" b="1">
                <a:solidFill>
                  <a:srgbClr val="000000"/>
                </a:solidFill>
                <a:latin typeface="Arial Black"/>
              </a:rPr>
              <a:t>SPLITS THAT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2454" y="4082922"/>
            <a:ext cx="6684781" cy="24335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16"/>
              </a:lnSpc>
            </a:pPr>
            <a:r>
              <a:rPr sz="1550" b="1" dirty="0">
                <a:solidFill>
                  <a:srgbClr val="000000"/>
                </a:solidFill>
                <a:latin typeface="Arial"/>
              </a:rPr>
              <a:t>A FORECAST-LED LOCAL SOLAR ENERGY ALLOCATION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7854" y="4719225"/>
            <a:ext cx="6033771" cy="2328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33"/>
              </a:lnSpc>
            </a:pPr>
            <a:r>
              <a:rPr sz="1450" b="0">
                <a:solidFill>
                  <a:srgbClr val="FFFFFF"/>
                </a:solidFill>
                <a:latin typeface="Calibri"/>
              </a:rPr>
              <a:t>    SIME DARBY HACKATHON: TOWNSHIP OF TOMORROW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twork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1175" y="903770"/>
            <a:ext cx="5136424" cy="634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999"/>
              </a:lnSpc>
            </a:pPr>
            <a:r>
              <a:rPr sz="4000" b="1">
                <a:solidFill>
                  <a:srgbClr val="000000"/>
                </a:solidFill>
                <a:latin typeface="Arial Black"/>
              </a:rPr>
              <a:t>TEAM PROMAX: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1175" y="1744022"/>
            <a:ext cx="4216160" cy="5676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469"/>
              </a:lnSpc>
            </a:pPr>
            <a:r>
              <a:rPr sz="3600" b="1">
                <a:solidFill>
                  <a:srgbClr val="AD5330"/>
                </a:solidFill>
                <a:latin typeface="Arial Black"/>
              </a:rPr>
              <a:t>01 TEAM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1175" y="2268745"/>
            <a:ext cx="5625483" cy="106677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99"/>
              </a:lnSpc>
            </a:pPr>
            <a:r>
              <a:rPr sz="1550" b="1">
                <a:solidFill>
                  <a:srgbClr val="000000"/>
                </a:solidFill>
                <a:latin typeface="Arial"/>
              </a:rPr>
              <a:t>SHERI ANNE CHONG TING TING · LEAD, FULL-STACK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UNIVERSITY OF SOUTHAMPTON MALAYSIA (UOSM)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satc1g24@soton.ac.uk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019-807 2503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1175" y="3934589"/>
            <a:ext cx="3990913" cy="5676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469"/>
              </a:lnSpc>
            </a:pPr>
            <a:r>
              <a:rPr sz="3600" b="1">
                <a:solidFill>
                  <a:srgbClr val="AD5330"/>
                </a:solidFill>
                <a:latin typeface="Arial Black"/>
              </a:rPr>
              <a:t>02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1175" y="4523998"/>
            <a:ext cx="4868616" cy="444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49"/>
              </a:lnSpc>
            </a:pPr>
            <a:r>
              <a:rPr sz="1550" b="1">
                <a:solidFill>
                  <a:srgbClr val="000000"/>
                </a:solidFill>
                <a:latin typeface="Arial"/>
              </a:rPr>
              <a:t>ONG HUI MIN · UI/UX DEVELOPER, RESEARCH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UOSM ·</a:t>
            </a:r>
            <a:r>
              <a:rPr sz="1550" b="1">
                <a:solidFill>
                  <a:srgbClr val="000000"/>
                </a:solidFill>
                <a:latin typeface="Arial"/>
              </a:rPr>
              <a:t> </a:t>
            </a:r>
            <a:r>
              <a:rPr sz="1550" b="0">
                <a:solidFill>
                  <a:srgbClr val="000000"/>
                </a:solidFill>
                <a:latin typeface="Arial"/>
              </a:rPr>
              <a:t>hmo1e25@soton.ac.uk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1175" y="5190731"/>
            <a:ext cx="5067130" cy="444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49"/>
              </a:lnSpc>
            </a:pPr>
            <a:r>
              <a:rPr sz="1550" b="1">
                <a:solidFill>
                  <a:srgbClr val="000000"/>
                </a:solidFill>
                <a:latin typeface="Arial"/>
              </a:rPr>
              <a:t>JESS LAU XI EN · UI/UX DESIGNER, DEVELOPER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UOSM · xel1n24@soton.ac.uk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1175" y="5857465"/>
            <a:ext cx="3870264" cy="444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49"/>
              </a:lnSpc>
            </a:pPr>
            <a:r>
              <a:rPr sz="1550" b="1">
                <a:solidFill>
                  <a:srgbClr val="000000"/>
                </a:solidFill>
                <a:latin typeface="Arial"/>
              </a:rPr>
              <a:t>LIM POH SHIU · DATA ANALYST, QA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UOSM ·psl1e25@soton.ac.uk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1) PROBLEM STATEMENT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dirty="0">
                <a:solidFill>
                  <a:srgbClr val="5E5048"/>
                </a:solidFill>
                <a:latin typeface="Calibri"/>
              </a:rPr>
              <a:t>CREAM makes SDP </a:t>
            </a:r>
            <a:r>
              <a:rPr lang="en-MY" dirty="0">
                <a:solidFill>
                  <a:srgbClr val="5E5048"/>
                </a:solidFill>
                <a:latin typeface="Calibri"/>
              </a:rPr>
              <a:t>pre-allocate</a:t>
            </a:r>
            <a:r>
              <a:rPr sz="1800" b="0" dirty="0">
                <a:solidFill>
                  <a:srgbClr val="5E5048"/>
                </a:solidFill>
                <a:latin typeface="Calibri"/>
              </a:rPr>
              <a:t> each buyer's share of solar four months ahead</a:t>
            </a:r>
            <a:r>
              <a:rPr lang="en-MY" sz="1800" b="0" dirty="0">
                <a:solidFill>
                  <a:srgbClr val="5E5048"/>
                </a:solidFill>
                <a:latin typeface="Calibri"/>
              </a:rPr>
              <a:t>.</a:t>
            </a:r>
            <a:endParaRPr sz="1800" b="0" dirty="0">
              <a:solidFill>
                <a:srgbClr val="5E504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234440" y="1965960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1945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6600" b="0">
                <a:solidFill>
                  <a:srgbClr val="AD5330"/>
                </a:solidFill>
                <a:latin typeface="Arial Black"/>
              </a:rPr>
              <a:t>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2461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A6B3D"/>
                </a:solidFill>
                <a:latin typeface="Calibri"/>
              </a:rPr>
              <a:t>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794760"/>
            <a:ext cx="27432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15120F"/>
                </a:solidFill>
                <a:latin typeface="Calibri"/>
              </a:rPr>
              <a:t>Each buyer's share is filed in writing before the month starts, before its real demand is known</a:t>
            </a:r>
            <a:r>
              <a:rPr lang="en-MY" sz="2000" b="0" dirty="0">
                <a:solidFill>
                  <a:srgbClr val="15120F"/>
                </a:solidFill>
                <a:latin typeface="Calibri"/>
              </a:rPr>
              <a:t>.</a:t>
            </a:r>
            <a:endParaRPr sz="2000"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80" y="1965960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6600" b="0">
                <a:solidFill>
                  <a:srgbClr val="AD5330"/>
                </a:solidFill>
                <a:latin typeface="Arial Black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461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A6B3D"/>
                </a:solidFill>
                <a:latin typeface="Calibri"/>
              </a:rPr>
              <a:t>sen/kWh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794760"/>
            <a:ext cx="27432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15120F"/>
                </a:solidFill>
                <a:latin typeface="Calibri"/>
              </a:rPr>
              <a:t>Access charge still paid</a:t>
            </a:r>
            <a:r>
              <a:rPr lang="en-MY" sz="2000" b="0" dirty="0">
                <a:solidFill>
                  <a:srgbClr val="15120F"/>
                </a:solidFill>
                <a:latin typeface="Calibri"/>
              </a:rPr>
              <a:t> by SDP to release</a:t>
            </a:r>
            <a:r>
              <a:rPr lang="en-MY" sz="2000" dirty="0">
                <a:solidFill>
                  <a:srgbClr val="15120F"/>
                </a:solidFill>
                <a:latin typeface="Calibri"/>
              </a:rPr>
              <a:t> </a:t>
            </a:r>
            <a:r>
              <a:rPr sz="2000" b="0" dirty="0">
                <a:solidFill>
                  <a:srgbClr val="15120F"/>
                </a:solidFill>
                <a:latin typeface="Calibri"/>
              </a:rPr>
              <a:t>solar a buyer </a:t>
            </a:r>
            <a:r>
              <a:rPr lang="en-MY" sz="2000" dirty="0">
                <a:solidFill>
                  <a:srgbClr val="15120F"/>
                </a:solidFill>
                <a:latin typeface="Calibri"/>
              </a:rPr>
              <a:t>didn’t </a:t>
            </a:r>
            <a:r>
              <a:rPr sz="2000" b="0" dirty="0">
                <a:solidFill>
                  <a:srgbClr val="15120F"/>
                </a:solidFill>
                <a:latin typeface="Calibri"/>
              </a:rPr>
              <a:t>use</a:t>
            </a:r>
            <a:r>
              <a:rPr lang="en-MY" sz="2000" b="0" dirty="0">
                <a:solidFill>
                  <a:srgbClr val="15120F"/>
                </a:solidFill>
                <a:latin typeface="Calibri"/>
              </a:rPr>
              <a:t>. </a:t>
            </a:r>
            <a:endParaRPr sz="2000"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75320" y="1965960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21945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6600" b="0" dirty="0">
                <a:solidFill>
                  <a:srgbClr val="AD5330"/>
                </a:solidFill>
                <a:latin typeface="Arial Black"/>
              </a:rPr>
              <a:t>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2461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A6B3D"/>
                </a:solidFill>
                <a:latin typeface="Calibri"/>
              </a:rPr>
              <a:t>of solar given 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794760"/>
            <a:ext cx="27432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sz="2000" dirty="0"/>
              <a:t>Median waste of 6% under a fixed yearly split. One buyer pair in ten wastes 16% or more.</a:t>
            </a:r>
            <a:endParaRPr sz="2000"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7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767676"/>
                </a:solidFill>
                <a:latin typeface="Calibri"/>
              </a:rPr>
              <a:t>CREAM Guidelines 9.9, 9.10(e), 13.2 (Energy Commission, 2025; Skrine, 2025). Replay on real meters, 407 buyer pairs (Miller et al., 2020;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WattWise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, 2026).</a:t>
            </a:r>
          </a:p>
        </p:txBody>
      </p:sp>
      <p:sp>
        <p:nvSpPr>
          <p:cNvPr id="18" name="Appendix reference"/>
          <p:cNvSpPr txBox="1"/>
          <p:nvPr/>
        </p:nvSpPr>
        <p:spPr>
          <a:xfrm>
            <a:off x="1097280" y="6583680"/>
            <a:ext cx="10058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>
                <a:solidFill>
                  <a:srgbClr val="A6A6A6"/>
                </a:solidFill>
                <a:latin typeface="Calibri"/>
              </a:rPr>
              <a:t>Check these numbers: Appendix A (solar given away), re-runnable in the testing suite.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2) TARGET USER(S)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Who has the problem today, and what WattWise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828800"/>
            <a:ext cx="3246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08760" y="2057400"/>
            <a:ext cx="640080" cy="64008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834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AD5330"/>
                </a:solidFill>
                <a:latin typeface="Calibri"/>
              </a:rPr>
              <a:t>CREAM aggregators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322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767676"/>
                </a:solidFill>
                <a:latin typeface="Calibri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59664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15120F"/>
                </a:solidFill>
                <a:latin typeface="Calibri"/>
              </a:rPr>
              <a:t>SDP files every buyer's share 120 days ahead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846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EA6B3D"/>
                </a:solidFill>
                <a:latin typeface="Calibri"/>
              </a:rPr>
              <a:t>WITH WATTWISE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512064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15120F"/>
                </a:solidFill>
                <a:latin typeface="Calibri"/>
              </a:rPr>
              <a:t>Each split is sized to the buyer's predicted use</a:t>
            </a:r>
            <a:r>
              <a:rPr lang="en-MY" b="1" dirty="0">
                <a:solidFill>
                  <a:srgbClr val="15120F"/>
                </a:solidFill>
                <a:latin typeface="Calibri"/>
              </a:rPr>
              <a:t>.</a:t>
            </a:r>
            <a:endParaRPr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54880" y="1828800"/>
            <a:ext cx="3246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0" y="2057400"/>
            <a:ext cx="640080" cy="640080"/>
          </a:xfrm>
          <a:prstGeom prst="ellipse">
            <a:avLst/>
          </a:prstGeom>
          <a:solidFill>
            <a:srgbClr val="EA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34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AD5330"/>
                </a:solidFill>
                <a:latin typeface="Calibri"/>
              </a:rPr>
              <a:t>Elmina homeowners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307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767676"/>
                </a:solidFill>
                <a:latin typeface="Calibri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581400"/>
            <a:ext cx="27432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dirty="0"/>
              <a:t>Fixed splits waste solar, so SDP has limited room to add more roofs.</a:t>
            </a:r>
            <a:endParaRPr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0" y="4724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EA6B3D"/>
                </a:solidFill>
                <a:latin typeface="Calibri"/>
              </a:rPr>
              <a:t>WITH </a:t>
            </a:r>
            <a:r>
              <a:rPr b="1" dirty="0" err="1">
                <a:solidFill>
                  <a:srgbClr val="EA6B3D"/>
                </a:solidFill>
                <a:latin typeface="Calibri"/>
              </a:rPr>
              <a:t>WATTWISE</a:t>
            </a:r>
            <a:endParaRPr b="1" dirty="0">
              <a:solidFill>
                <a:srgbClr val="EA6B3D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0" y="4998720"/>
            <a:ext cx="27432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dirty="0"/>
              <a:t>Up to 20% more homes can lease their roofs at no extra waste (modelled).</a:t>
            </a:r>
            <a:endParaRPr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75320" y="1828800"/>
            <a:ext cx="3246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49640" y="2057400"/>
            <a:ext cx="640080" cy="640080"/>
          </a:xfrm>
          <a:prstGeom prst="ellipse">
            <a:avLst/>
          </a:prstGeom>
          <a:solidFill>
            <a:srgbClr val="F9B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5120F"/>
                </a:solidFill>
                <a:latin typeface="Arial Blac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834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AD5330"/>
                </a:solidFill>
                <a:latin typeface="Calibri"/>
              </a:rPr>
              <a:t>CREAM buyers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322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767676"/>
                </a:solidFill>
                <a:latin typeface="Calibri"/>
              </a:rPr>
              <a:t>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596640"/>
            <a:ext cx="27432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15120F"/>
                </a:solidFill>
                <a:latin typeface="Calibri"/>
              </a:rPr>
              <a:t>Innovation Park today; a school, petrol stations and commercial hubs have shown interest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846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EA6B3D"/>
                </a:solidFill>
                <a:latin typeface="Calibri"/>
              </a:rPr>
              <a:t>WITH WATTWISE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512064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15120F"/>
                </a:solidFill>
                <a:latin typeface="Calibri"/>
              </a:rPr>
              <a:t>Each share comes from the buyer's own meters</a:t>
            </a:r>
            <a:r>
              <a:rPr lang="en-MY" b="1" dirty="0">
                <a:solidFill>
                  <a:srgbClr val="15120F"/>
                </a:solidFill>
                <a:latin typeface="Calibri"/>
              </a:rPr>
              <a:t>.</a:t>
            </a:r>
            <a:endParaRPr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26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Buyer interest: The Malaysian Reserve (2025). Waste figures: median of 407 real buyer pairs (WattWise, 2026).</a:t>
            </a:r>
          </a:p>
        </p:txBody>
      </p:sp>
      <p:sp>
        <p:nvSpPr>
          <p:cNvPr id="27" name="Appendix reference"/>
          <p:cNvSpPr txBox="1"/>
          <p:nvPr/>
        </p:nvSpPr>
        <p:spPr>
          <a:xfrm>
            <a:off x="1097280" y="6583680"/>
            <a:ext cx="10058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>
                <a:solidFill>
                  <a:srgbClr val="A6A6A6"/>
                </a:solidFill>
                <a:latin typeface="Calibri"/>
              </a:rPr>
              <a:t>Check these numbers: Appendix A (solar given away) and Appendix C (room for 20% more roofs).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 dirty="0">
                <a:solidFill>
                  <a:srgbClr val="15120F"/>
                </a:solidFill>
                <a:latin typeface="Arial Black"/>
              </a:rPr>
              <a:t>3) OUR SOLUTION: </a:t>
            </a:r>
            <a:r>
              <a:rPr sz="3400" b="0" dirty="0" err="1">
                <a:solidFill>
                  <a:srgbClr val="15120F"/>
                </a:solidFill>
                <a:latin typeface="Arial Black"/>
              </a:rPr>
              <a:t>WATTWISE</a:t>
            </a:r>
            <a:endParaRPr sz="3400" b="0" dirty="0">
              <a:solidFill>
                <a:srgbClr val="15120F"/>
              </a:solidFill>
              <a:latin typeface="Arial Black"/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5E5048"/>
                </a:solidFill>
                <a:latin typeface="Calibri"/>
              </a:rPr>
              <a:t>A software layer that replaces a fixed yearly guess with a monthly plan</a:t>
            </a:r>
            <a:r>
              <a:rPr lang="en-MY" sz="2000" b="0" dirty="0">
                <a:solidFill>
                  <a:srgbClr val="5E5048"/>
                </a:solidFill>
                <a:latin typeface="Calibri"/>
              </a:rPr>
              <a:t>.</a:t>
            </a:r>
            <a:endParaRPr sz="2000" b="0" dirty="0">
              <a:solidFill>
                <a:srgbClr val="5E5048"/>
              </a:solidFill>
              <a:latin typeface="Calibri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1005840" y="2103120"/>
            <a:ext cx="2606040" cy="914400"/>
          </a:xfrm>
          <a:prstGeom prst="homePlate">
            <a:avLst/>
          </a:prstGeom>
          <a:solidFill>
            <a:srgbClr val="F9B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rgbClr val="15120F"/>
                </a:solidFill>
                <a:latin typeface="Calibri"/>
              </a:rPr>
              <a:t>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345" y="3215640"/>
            <a:ext cx="2286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dirty="0">
                <a:solidFill>
                  <a:srgbClr val="15120F"/>
                </a:solidFill>
                <a:latin typeface="Calibri"/>
              </a:rPr>
              <a:t>Each buyer's use, from its own meter history</a:t>
            </a:r>
          </a:p>
        </p:txBody>
      </p:sp>
      <p:sp>
        <p:nvSpPr>
          <p:cNvPr id="7" name="Chevron 6"/>
          <p:cNvSpPr/>
          <p:nvPr/>
        </p:nvSpPr>
        <p:spPr>
          <a:xfrm>
            <a:off x="3703320" y="2103120"/>
            <a:ext cx="2606040" cy="914400"/>
          </a:xfrm>
          <a:prstGeom prst="chevron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ALLOCATE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161121"/>
            <a:ext cx="2697480" cy="1461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dirty="0">
                <a:solidFill>
                  <a:srgbClr val="15120F"/>
                </a:solidFill>
                <a:latin typeface="Calibri"/>
              </a:rPr>
              <a:t>Share sized to the estimate; a slice held back for</a:t>
            </a:r>
            <a:r>
              <a:rPr lang="en-MY" sz="1900" b="0" dirty="0">
                <a:solidFill>
                  <a:srgbClr val="15120F"/>
                </a:solidFill>
                <a:latin typeface="Calibri"/>
              </a:rPr>
              <a:t> a fallback buyer, NEDA </a:t>
            </a:r>
          </a:p>
          <a:p>
            <a:pPr algn="ctr"/>
            <a:r>
              <a:rPr lang="en-MY" sz="1900" b="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(New Enhanced Dispatch Arrangement)</a:t>
            </a:r>
            <a:endParaRPr sz="1900" b="0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6400800" y="2103120"/>
            <a:ext cx="2606040" cy="914400"/>
          </a:xfrm>
          <a:prstGeom prst="chevron">
            <a:avLst/>
          </a:prstGeom>
          <a:solidFill>
            <a:srgbClr val="EA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246120"/>
            <a:ext cx="2286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5120F"/>
                </a:solidFill>
                <a:latin typeface="Calibri"/>
              </a:rPr>
              <a:t>Stamped with its 120-day notice date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9098280" y="2103120"/>
            <a:ext cx="2606040" cy="914400"/>
          </a:xfrm>
          <a:prstGeom prst="chevron">
            <a:avLst/>
          </a:prstGeom>
          <a:solidFill>
            <a:srgbClr val="AD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46120"/>
            <a:ext cx="2286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5120F"/>
                </a:solidFill>
                <a:latin typeface="Calibri"/>
              </a:rPr>
              <a:t>Each month checked against real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4716378"/>
            <a:ext cx="9235440" cy="137160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37360" y="4853538"/>
            <a:ext cx="8686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dirty="0">
                <a:solidFill>
                  <a:srgbClr val="EA6B3D"/>
                </a:solidFill>
                <a:latin typeface="Calibri"/>
              </a:rPr>
              <a:t>THE RULE ANYONE CAN CHECK BY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265018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AD5330"/>
                </a:solidFill>
                <a:latin typeface="Calibri"/>
              </a:rPr>
              <a:t>estimate = same month last year × (1 + trend)</a:t>
            </a:r>
          </a:p>
        </p:txBody>
      </p:sp>
      <p:sp>
        <p:nvSpPr>
          <p:cNvPr id="16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767676"/>
                </a:solidFill>
                <a:latin typeface="Calibri"/>
              </a:rPr>
              <a:t>No weather, no machine learning. Replay and rules: 02 Scheduler Module/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replay.py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 (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WattWise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, 2026).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32004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 dirty="0">
                <a:solidFill>
                  <a:srgbClr val="15120F"/>
                </a:solidFill>
                <a:latin typeface="Arial Black"/>
              </a:rPr>
              <a:t>4) INNOVATION &amp; DIFFERENTIATION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2649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What gives WattWise a new approach?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706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400" b="1" dirty="0">
                <a:solidFill>
                  <a:srgbClr val="5E5048"/>
                </a:solidFill>
                <a:latin typeface="Calibri"/>
              </a:rPr>
              <a:t>Makes &amp; stores solar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06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400" b="1">
                <a:solidFill>
                  <a:srgbClr val="5E5048"/>
                </a:solidFill>
                <a:latin typeface="Calibri"/>
              </a:rPr>
              <a:t>Manages one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706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400" b="1">
                <a:solidFill>
                  <a:srgbClr val="5E5048"/>
                </a:solidFill>
                <a:latin typeface="Calibri"/>
              </a:rPr>
              <a:t>Signs up roofs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706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400" b="1">
                <a:solidFill>
                  <a:srgbClr val="5E5048"/>
                </a:solidFill>
                <a:latin typeface="Calibri"/>
              </a:rPr>
              <a:t>Plans CREAM shares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19" y="2423160"/>
            <a:ext cx="1033271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19" y="2612395"/>
            <a:ext cx="30175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dirty="0" err="1">
                <a:solidFill>
                  <a:srgbClr val="15120F"/>
                </a:solidFill>
                <a:latin typeface="Calibri"/>
              </a:rPr>
              <a:t>Solarvest</a:t>
            </a:r>
            <a:r>
              <a:rPr sz="1700" b="1" dirty="0">
                <a:solidFill>
                  <a:srgbClr val="15120F"/>
                </a:solidFill>
                <a:latin typeface="Calibri"/>
              </a:rPr>
              <a:t> · </a:t>
            </a:r>
            <a:r>
              <a:rPr sz="1700" b="1" dirty="0" err="1">
                <a:solidFill>
                  <a:srgbClr val="15120F"/>
                </a:solidFill>
                <a:latin typeface="Calibri"/>
              </a:rPr>
              <a:t>GSPARX</a:t>
            </a:r>
            <a:r>
              <a:rPr sz="1700" b="1" dirty="0">
                <a:solidFill>
                  <a:srgbClr val="15120F"/>
                </a:solidFill>
                <a:latin typeface="Calibri"/>
              </a:rPr>
              <a:t> · Plus </a:t>
            </a:r>
            <a:r>
              <a:rPr sz="1700" b="1" dirty="0" err="1">
                <a:solidFill>
                  <a:srgbClr val="15120F"/>
                </a:solidFill>
                <a:latin typeface="Calibri"/>
              </a:rPr>
              <a:t>Xnergy</a:t>
            </a:r>
            <a:endParaRPr sz="1700"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129784" y="2514600"/>
            <a:ext cx="438912" cy="438912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73923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573923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573923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19" y="3172968"/>
            <a:ext cx="1033271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19" y="3362203"/>
            <a:ext cx="30175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5120F"/>
                </a:solidFill>
                <a:latin typeface="Calibri"/>
              </a:rPr>
              <a:t>Schneider Electric · Tanand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323731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18" name="Oval 17"/>
          <p:cNvSpPr/>
          <p:nvPr/>
        </p:nvSpPr>
        <p:spPr>
          <a:xfrm>
            <a:off x="6867144" y="3264408"/>
            <a:ext cx="438912" cy="438912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323731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323731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19" y="3922776"/>
            <a:ext cx="1033271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19" y="4112011"/>
            <a:ext cx="30175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5120F"/>
                </a:solidFill>
                <a:latin typeface="Calibri"/>
              </a:rPr>
              <a:t>Bright Energy · GSPARX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73539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073539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5" name="Oval 24"/>
          <p:cNvSpPr/>
          <p:nvPr/>
        </p:nvSpPr>
        <p:spPr>
          <a:xfrm>
            <a:off x="8604503" y="4014215"/>
            <a:ext cx="438912" cy="438912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073539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19" y="4672583"/>
            <a:ext cx="10332719" cy="640080"/>
          </a:xfrm>
          <a:prstGeom prst="roundRect">
            <a:avLst>
              <a:gd name="adj" fmla="val 15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17319" y="4861818"/>
            <a:ext cx="30175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WATTWISE</a:t>
            </a:r>
          </a:p>
        </p:txBody>
      </p:sp>
      <p:sp>
        <p:nvSpPr>
          <p:cNvPr id="29" name="Oval 28"/>
          <p:cNvSpPr/>
          <p:nvPr/>
        </p:nvSpPr>
        <p:spPr>
          <a:xfrm>
            <a:off x="10341863" y="4764023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AD5330"/>
                </a:solidFill>
                <a:latin typeface="Arial Black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60" y="5556504"/>
            <a:ext cx="10332718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dirty="0" err="1">
                <a:solidFill>
                  <a:srgbClr val="15120F"/>
                </a:solidFill>
                <a:latin typeface="Calibri"/>
              </a:rPr>
              <a:t>WattWise</a:t>
            </a:r>
            <a:r>
              <a:rPr sz="2300" b="1" dirty="0">
                <a:solidFill>
                  <a:srgbClr val="15120F"/>
                </a:solidFill>
                <a:latin typeface="Calibri"/>
              </a:rPr>
              <a:t> works with these players inside the CREAM ecosystem, not against them.</a:t>
            </a:r>
          </a:p>
        </p:txBody>
      </p:sp>
      <p:sp>
        <p:nvSpPr>
          <p:cNvPr id="31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767676"/>
                </a:solidFill>
                <a:latin typeface="Calibri"/>
              </a:rPr>
              <a:t>Company roles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summarised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 from their public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descriptio</a:t>
            </a:r>
            <a:r>
              <a:rPr lang="en-MY" sz="1100" b="0" dirty="0">
                <a:solidFill>
                  <a:srgbClr val="767676"/>
                </a:solidFill>
                <a:latin typeface="Calibri"/>
              </a:rPr>
              <a:t>n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s; not independently 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5) HOW IT WORKS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Theme: Planet · Smart energy efficiency</a:t>
            </a:r>
          </a:p>
        </p:txBody>
      </p:sp>
      <p:sp>
        <p:nvSpPr>
          <p:cNvPr id="5" name="Oval 4"/>
          <p:cNvSpPr/>
          <p:nvPr/>
        </p:nvSpPr>
        <p:spPr>
          <a:xfrm>
            <a:off x="1325880" y="1920240"/>
            <a:ext cx="822960" cy="822960"/>
          </a:xfrm>
          <a:prstGeom prst="ellipse">
            <a:avLst/>
          </a:prstGeom>
          <a:solidFill>
            <a:srgbClr val="F9B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15120F"/>
                </a:solidFill>
                <a:latin typeface="Arial Black"/>
              </a:rP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31720" y="2148840"/>
            <a:ext cx="685800" cy="365760"/>
          </a:xfrm>
          <a:prstGeom prst="rightArrow">
            <a:avLst/>
          </a:prstGeom>
          <a:solidFill>
            <a:srgbClr val="F6D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3 files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5E5048"/>
                </a:solidFill>
                <a:latin typeface="Calibri"/>
              </a:rPr>
              <a:t>meter readings · past splits · solar output</a:t>
            </a:r>
          </a:p>
        </p:txBody>
      </p:sp>
      <p:sp>
        <p:nvSpPr>
          <p:cNvPr id="10" name="Oval 9"/>
          <p:cNvSpPr/>
          <p:nvPr/>
        </p:nvSpPr>
        <p:spPr>
          <a:xfrm>
            <a:off x="3474720" y="1920240"/>
            <a:ext cx="822960" cy="82296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80560" y="2148840"/>
            <a:ext cx="685800" cy="365760"/>
          </a:xfrm>
          <a:prstGeom prst="rightArrow">
            <a:avLst/>
          </a:prstGeom>
          <a:solidFill>
            <a:srgbClr val="F6D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79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120 days ahead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5048"/>
                </a:solidFill>
                <a:latin typeface="Calibri"/>
              </a:rPr>
              <a:t>same month last year × trend</a:t>
            </a:r>
          </a:p>
        </p:txBody>
      </p:sp>
      <p:sp>
        <p:nvSpPr>
          <p:cNvPr id="15" name="Oval 14"/>
          <p:cNvSpPr/>
          <p:nvPr/>
        </p:nvSpPr>
        <p:spPr>
          <a:xfrm>
            <a:off x="5623560" y="1920240"/>
            <a:ext cx="822960" cy="822960"/>
          </a:xfrm>
          <a:prstGeom prst="ellipse">
            <a:avLst/>
          </a:prstGeom>
          <a:solidFill>
            <a:srgbClr val="EA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629400" y="2148840"/>
            <a:ext cx="685800" cy="365760"/>
          </a:xfrm>
          <a:prstGeom prst="rightArrow">
            <a:avLst/>
          </a:prstGeom>
          <a:solidFill>
            <a:srgbClr val="F6D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ALLOCATE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share + hold-back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5048"/>
                </a:solidFill>
                <a:latin typeface="Calibri"/>
              </a:rPr>
              <a:t>2% of solar held back for NEDA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0" y="1920240"/>
            <a:ext cx="822960" cy="822960"/>
          </a:xfrm>
          <a:prstGeom prst="ellipse">
            <a:avLst/>
          </a:prstGeom>
          <a:solidFill>
            <a:srgbClr val="AD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78240" y="2148840"/>
            <a:ext cx="685800" cy="365760"/>
          </a:xfrm>
          <a:prstGeom prst="rightArrow">
            <a:avLst/>
          </a:prstGeom>
          <a:solidFill>
            <a:srgbClr val="F6D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notice-stamped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5048"/>
                </a:solidFill>
                <a:latin typeface="Calibri"/>
              </a:rPr>
              <a:t>SDP files with the Energy Commission</a:t>
            </a:r>
          </a:p>
        </p:txBody>
      </p:sp>
      <p:sp>
        <p:nvSpPr>
          <p:cNvPr id="25" name="Oval 24"/>
          <p:cNvSpPr/>
          <p:nvPr/>
        </p:nvSpPr>
        <p:spPr>
          <a:xfrm>
            <a:off x="9921240" y="1920240"/>
            <a:ext cx="822960" cy="822960"/>
          </a:xfrm>
          <a:prstGeom prst="ellipse">
            <a:avLst/>
          </a:prstGeom>
          <a:solidFill>
            <a:srgbClr val="15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after TNB bills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5048"/>
                </a:solidFill>
                <a:latin typeface="Calibri"/>
              </a:rPr>
              <a:t>suggested vs filed vs actual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4977115"/>
            <a:ext cx="7772400" cy="1182822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2377440" y="5191427"/>
            <a:ext cx="740664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MY" sz="2400" dirty="0"/>
              <a:t>Result: solar given away drops from 6.05% to 1.34% (median, 407 buyer pairs).</a:t>
            </a:r>
            <a:endParaRPr sz="2400"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31" name="Appendix reference"/>
          <p:cNvSpPr txBox="1"/>
          <p:nvPr/>
        </p:nvSpPr>
        <p:spPr>
          <a:xfrm>
            <a:off x="1097280" y="6400800"/>
            <a:ext cx="10058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>
                <a:solidFill>
                  <a:srgbClr val="A6A6A6"/>
                </a:solidFill>
                <a:latin typeface="Calibri"/>
              </a:rPr>
              <a:t>Check these numbers: Appendix A (6.05% to 1.34% given away).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6) IMPACT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dirty="0">
                <a:solidFill>
                  <a:srgbClr val="5E5048"/>
                </a:solidFill>
                <a:latin typeface="Calibri"/>
              </a:rPr>
              <a:t>Less solar </a:t>
            </a:r>
            <a:r>
              <a:rPr lang="en-MY" sz="1800" b="0" dirty="0">
                <a:solidFill>
                  <a:srgbClr val="5E5048"/>
                </a:solidFill>
                <a:latin typeface="Calibri"/>
              </a:rPr>
              <a:t>is </a:t>
            </a:r>
            <a:r>
              <a:rPr sz="1800" b="0" dirty="0">
                <a:solidFill>
                  <a:srgbClr val="5E5048"/>
                </a:solidFill>
                <a:latin typeface="Calibri"/>
              </a:rPr>
              <a:t>thrown away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346789"/>
              </p:ext>
            </p:extLst>
          </p:nvPr>
        </p:nvGraphicFramePr>
        <p:xfrm>
          <a:off x="914400" y="1691640"/>
          <a:ext cx="66751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819143"/>
            <a:ext cx="667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5E5048"/>
                </a:solidFill>
                <a:latin typeface="Calibri"/>
              </a:rPr>
              <a:t>Median share of the year's solar given away</a:t>
            </a:r>
            <a:r>
              <a:rPr lang="en-MY" sz="1600" dirty="0">
                <a:solidFill>
                  <a:srgbClr val="5E5048"/>
                </a:solidFill>
                <a:latin typeface="Calibri"/>
              </a:rPr>
              <a:t> from </a:t>
            </a:r>
            <a:r>
              <a:rPr sz="1600" b="0" dirty="0">
                <a:solidFill>
                  <a:srgbClr val="5E5048"/>
                </a:solidFill>
                <a:latin typeface="Calibri"/>
              </a:rPr>
              <a:t>407 real </a:t>
            </a:r>
            <a:r>
              <a:rPr lang="en-MY" sz="1600" b="0" dirty="0">
                <a:solidFill>
                  <a:srgbClr val="5E5048"/>
                </a:solidFill>
                <a:latin typeface="Calibri"/>
              </a:rPr>
              <a:t>buyer pairs</a:t>
            </a:r>
            <a:r>
              <a:rPr sz="1600" b="0" dirty="0">
                <a:solidFill>
                  <a:srgbClr val="5E5048"/>
                </a:solidFill>
                <a:latin typeface="Calibri"/>
              </a:rPr>
              <a:t> </a:t>
            </a:r>
            <a:r>
              <a:rPr lang="en-MY" sz="1600" dirty="0">
                <a:solidFill>
                  <a:srgbClr val="5E5048"/>
                </a:solidFill>
                <a:latin typeface="Calibri"/>
              </a:rPr>
              <a:t> </a:t>
            </a:r>
            <a:endParaRPr sz="1600" b="0" dirty="0">
              <a:solidFill>
                <a:srgbClr val="5E5048"/>
              </a:solidFill>
              <a:latin typeface="Calibri"/>
            </a:endParaRPr>
          </a:p>
        </p:txBody>
      </p:sp>
      <p:sp>
        <p:nvSpPr>
          <p:cNvPr id="11" name="Source"/>
          <p:cNvSpPr txBox="1"/>
          <p:nvPr/>
        </p:nvSpPr>
        <p:spPr>
          <a:xfrm>
            <a:off x="1097280" y="63550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67676"/>
                </a:solidFill>
                <a:latin typeface="Calibri"/>
              </a:rPr>
              <a:t>Real meters from 821 buildings (Miller et al., 2020) with rooftop solar at Elmina (European Commission JRC, 2022). Re-run it yourself in the testing suite.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4CE8BC-77B5-FFEE-82D2-089074B3647B}"/>
              </a:ext>
            </a:extLst>
          </p:cNvPr>
          <p:cNvSpPr txBox="1"/>
          <p:nvPr/>
        </p:nvSpPr>
        <p:spPr>
          <a:xfrm>
            <a:off x="8138160" y="14630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6000" b="0">
                <a:solidFill>
                  <a:srgbClr val="AD5330"/>
                </a:solidFill>
                <a:latin typeface="Arial Black"/>
              </a:rPr>
              <a:t>78%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BFE7C-E96F-182F-19A6-F1ECC153CEC1}"/>
              </a:ext>
            </a:extLst>
          </p:cNvPr>
          <p:cNvSpPr txBox="1"/>
          <p:nvPr/>
        </p:nvSpPr>
        <p:spPr>
          <a:xfrm>
            <a:off x="8138160" y="233172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E5048"/>
                </a:solidFill>
                <a:latin typeface="Calibri"/>
              </a:rPr>
              <a:t>less solar given away than a fixed split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2A71EC-D227-6249-FE65-A656880838B9}"/>
              </a:ext>
            </a:extLst>
          </p:cNvPr>
          <p:cNvSpPr txBox="1"/>
          <p:nvPr/>
        </p:nvSpPr>
        <p:spPr>
          <a:xfrm>
            <a:off x="8138160" y="301752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000" b="0">
                <a:solidFill>
                  <a:srgbClr val="EA6B3D"/>
                </a:solidFill>
                <a:latin typeface="Arial Black"/>
              </a:rPr>
              <a:t>99.8%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F726F3-457A-A689-8C3D-6AF7E534341F}"/>
              </a:ext>
            </a:extLst>
          </p:cNvPr>
          <p:cNvSpPr txBox="1"/>
          <p:nvPr/>
        </p:nvSpPr>
        <p:spPr>
          <a:xfrm>
            <a:off x="8138160" y="388620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E5048"/>
                </a:solidFill>
                <a:latin typeface="Calibri"/>
              </a:rPr>
              <a:t>of 407 real buyer pairs: WattWise gives away less than a fixed split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2B81C7-C5C6-2423-5FA5-0A5277953C6E}"/>
              </a:ext>
            </a:extLst>
          </p:cNvPr>
          <p:cNvSpPr txBox="1"/>
          <p:nvPr/>
        </p:nvSpPr>
        <p:spPr>
          <a:xfrm>
            <a:off x="8138160" y="452628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000" b="0">
                <a:solidFill>
                  <a:srgbClr val="AD5330"/>
                </a:solidFill>
                <a:latin typeface="Arial Black"/>
              </a:rPr>
              <a:t>RM108k–265k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783F02-469B-6DC4-04B2-C249CF9F33E8}"/>
              </a:ext>
            </a:extLst>
          </p:cNvPr>
          <p:cNvSpPr txBox="1"/>
          <p:nvPr/>
        </p:nvSpPr>
        <p:spPr>
          <a:xfrm>
            <a:off x="8138160" y="539496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5E5048"/>
                </a:solidFill>
                <a:latin typeface="Calibri"/>
              </a:rPr>
              <a:t>a year more at 6,000 homes. Scales with solar generated, not buyers (modelled)</a:t>
            </a:r>
          </a:p>
        </p:txBody>
      </p:sp>
      <p:sp>
        <p:nvSpPr>
          <p:cNvPr id="45" name="Appendix reference"/>
          <p:cNvSpPr txBox="1"/>
          <p:nvPr/>
        </p:nvSpPr>
        <p:spPr>
          <a:xfrm>
            <a:off x="1097280" y="6583680"/>
            <a:ext cx="10058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>
                <a:solidFill>
                  <a:srgbClr val="A6A6A6"/>
                </a:solidFill>
                <a:latin typeface="Calibri"/>
              </a:rPr>
              <a:t>Check these numbers: Appendix A (waste and CO₂e), B (income and how it scales), D (how many buyer pairs improve).</a:t>
            </a:r>
          </a:p>
        </p:txBody>
      </p:sp>
      <p:sp>
        <p:nvSpPr>
          <p:cNvPr id="46" name="Elmina size: kept local and CO2"/>
          <p:cNvSpPr/>
          <p:nvPr/>
        </p:nvSpPr>
        <p:spPr>
          <a:xfrm>
            <a:off x="914400" y="5262369"/>
            <a:ext cx="6675120" cy="896112"/>
          </a:xfrm>
          <a:prstGeom prst="roundRect">
            <a:avLst>
              <a:gd name="adj" fmla="val 14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/>
          <a:lstStyle/>
          <a:p>
            <a:pPr algn="ctr"/>
            <a:r>
              <a:rPr sz="1400" b="1">
                <a:solidFill>
                  <a:srgbClr val="B0552F"/>
                </a:solidFill>
                <a:latin typeface="Calibri"/>
              </a:rPr>
              <a:t>At Elmina size: </a:t>
            </a:r>
            <a:r>
              <a:rPr sz="1400" b="0">
                <a:solidFill>
                  <a:srgbClr val="15120F"/>
                </a:solidFill>
                <a:latin typeface="Calibri"/>
              </a:rPr>
              <a:t>443 MWh a year kept local, about 330 tonnes of CO₂e avoided, and room for about 20% more roofs (modelled).</a:t>
            </a:r>
          </a:p>
          <a:p>
            <a:pPr algn="ctr"/>
            <a:r>
              <a:rPr sz="1000">
                <a:solidFill>
                  <a:srgbClr val="767676"/>
                </a:solidFill>
                <a:latin typeface="Calibri"/>
              </a:rPr>
              <a:t>CO₂e at 0.740 t/MWh, Peninsular Malaysia grid, 2024 provisional (Energy Commission, 2026).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7) FEASIBILITY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A working prototype, tested on real meters</a:t>
            </a:r>
          </a:p>
        </p:txBody>
      </p:sp>
      <p:pic>
        <p:nvPicPr>
          <p:cNvPr id="5" name="Prototype screenshot" descr="prototype-1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585216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783080"/>
            <a:ext cx="5852160" cy="3657600"/>
          </a:xfrm>
          <a:prstGeom prst="roundRect">
            <a:avLst>
              <a:gd name="adj" fmla="val 1000"/>
            </a:avLst>
          </a:prstGeom>
          <a:noFill/>
          <a:ln w="15875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86600" y="1783080"/>
            <a:ext cx="4297680" cy="96012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69480" y="1783080"/>
            <a:ext cx="1828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0">
                <a:solidFill>
                  <a:srgbClr val="AD5330"/>
                </a:solidFill>
                <a:latin typeface="Arial Black"/>
              </a:rPr>
              <a:t>821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78308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5120F"/>
                </a:solidFill>
                <a:latin typeface="Calibri"/>
              </a:rPr>
              <a:t>real buildings tested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834640"/>
            <a:ext cx="4297680" cy="96012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2834640"/>
            <a:ext cx="1828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0">
                <a:solidFill>
                  <a:srgbClr val="AD5330"/>
                </a:solidFill>
                <a:latin typeface="Arial Black"/>
              </a:rPr>
              <a:t>99.8%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83464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5120F"/>
                </a:solidFill>
                <a:latin typeface="Calibri"/>
              </a:rPr>
              <a:t>of buyer pairs give away less than a fixed split</a:t>
            </a:r>
          </a:p>
        </p:txBody>
      </p:sp>
      <p:sp>
        <p:nvSpPr>
          <p:cNvPr id="16" name="Link https://wattwise-promax.netlify.app/tests.html#how">
            <a:hlinkClick r:id="rId4"/>
          </p:cNvPr>
          <p:cNvSpPr/>
          <p:nvPr/>
        </p:nvSpPr>
        <p:spPr>
          <a:xfrm>
            <a:off x="822960" y="5623560"/>
            <a:ext cx="5852160" cy="502920"/>
          </a:xfrm>
          <a:prstGeom prst="roundRect">
            <a:avLst>
              <a:gd name="adj" fmla="val 50000"/>
            </a:avLst>
          </a:prstGeom>
          <a:solidFill>
            <a:srgbClr val="15120F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Try the testing suite: re-run every number</a:t>
            </a:r>
          </a:p>
        </p:txBody>
      </p:sp>
      <p:sp>
        <p:nvSpPr>
          <p:cNvPr id="17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Operator app prototype (screenshot). Fits SDP's digital energy services strategy (Sime Darby Property, 2026a).</a:t>
            </a:r>
          </a:p>
        </p:txBody>
      </p:sp>
      <p:sp>
        <p:nvSpPr>
          <p:cNvPr id="18" name="Appendix reference"/>
          <p:cNvSpPr txBox="1"/>
          <p:nvPr/>
        </p:nvSpPr>
        <p:spPr>
          <a:xfrm>
            <a:off x="1097280" y="6583680"/>
            <a:ext cx="10058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>
                <a:solidFill>
                  <a:srgbClr val="A6A6A6"/>
                </a:solidFill>
                <a:latin typeface="Calibri"/>
              </a:rPr>
              <a:t>Check these numbers: Appendix A (821 buildings) and Appendix D (99.8% of buyer pairs).</a:t>
            </a:r>
          </a:p>
        </p:txBody>
      </p:sp>
      <p:sp>
        <p:nvSpPr>
          <p:cNvPr id="19" name="Resources, stakeholders, deployment"/>
          <p:cNvSpPr/>
          <p:nvPr/>
        </p:nvSpPr>
        <p:spPr>
          <a:xfrm>
            <a:off x="7086600" y="3931920"/>
            <a:ext cx="4297680" cy="196596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0552F"/>
                </a:solidFill>
                <a:latin typeface="Calibri"/>
              </a:rPr>
              <a:t>Resources: </a:t>
            </a:r>
            <a:r>
              <a:rPr sz="1400" b="0">
                <a:solidFill>
                  <a:srgbClr val="15120F"/>
                </a:solidFill>
                <a:latin typeface="Calibri"/>
              </a:rPr>
              <a:t>public data and a static web app; no hardware, no grid integration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B0552F"/>
                </a:solidFill>
                <a:latin typeface="Calibri"/>
              </a:rPr>
              <a:t>Stakeholders: </a:t>
            </a:r>
            <a:r>
              <a:rPr sz="1400" b="0">
                <a:solidFill>
                  <a:srgbClr val="15120F"/>
                </a:solidFill>
                <a:latin typeface="Calibri"/>
              </a:rPr>
              <a:t>SDP scheme admin, Energy Commission, TNB (Single Buyer), CREAM buyers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B0552F"/>
                </a:solidFill>
                <a:latin typeface="Calibri"/>
              </a:rPr>
              <a:t>Deployment: </a:t>
            </a:r>
            <a:r>
              <a:rPr sz="1400" b="0">
                <a:solidFill>
                  <a:srgbClr val="15120F"/>
                </a:solidFill>
                <a:latin typeface="Calibri"/>
              </a:rPr>
              <a:t>3-month shadow pilot; SDP still files with the Energy Commission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7) IMPLEMENTATION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How WattWise enters SDP's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33100"/>
            <a:ext cx="9418320" cy="7315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17320" y="1894772"/>
            <a:ext cx="731520" cy="731520"/>
          </a:xfrm>
          <a:prstGeom prst="ellipse">
            <a:avLst/>
          </a:prstGeom>
          <a:solidFill>
            <a:srgbClr val="F9B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5120F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006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Shadow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61292"/>
            <a:ext cx="1920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15120F"/>
                </a:solidFill>
                <a:latin typeface="Calibri"/>
              </a:rPr>
              <a:t>3 months, free. SDP shares 3 files: meters, past splits, solar.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1894772"/>
            <a:ext cx="731520" cy="73152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9006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261292"/>
            <a:ext cx="192024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5120F"/>
                </a:solidFill>
                <a:latin typeface="Calibri"/>
              </a:rPr>
              <a:t>Compare suggested, filed and billed splits; report solar given away.</a:t>
            </a:r>
          </a:p>
        </p:txBody>
      </p:sp>
      <p:sp>
        <p:nvSpPr>
          <p:cNvPr id="12" name="Oval 11"/>
          <p:cNvSpPr/>
          <p:nvPr/>
        </p:nvSpPr>
        <p:spPr>
          <a:xfrm>
            <a:off x="5715000" y="1894772"/>
            <a:ext cx="731520" cy="731520"/>
          </a:xfrm>
          <a:prstGeom prst="ellipse">
            <a:avLst/>
          </a:prstGeom>
          <a:solidFill>
            <a:srgbClr val="EA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9006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Live at Elmina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261292"/>
            <a:ext cx="192024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5120F"/>
                </a:solidFill>
                <a:latin typeface="Calibri"/>
              </a:rPr>
              <a:t>WattWise suggests, the scheme admin approves, SDP files 120 days ahead.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1894772"/>
            <a:ext cx="731520" cy="731520"/>
          </a:xfrm>
          <a:prstGeom prst="ellipse">
            <a:avLst/>
          </a:prstGeom>
          <a:solidFill>
            <a:srgbClr val="AD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9006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261292"/>
            <a:ext cx="1920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5120F"/>
                </a:solidFill>
                <a:latin typeface="Calibri"/>
              </a:rPr>
              <a:t>Run monthly for each new buyer; same rules, no new hardware.</a:t>
            </a:r>
          </a:p>
        </p:txBody>
      </p:sp>
      <p:sp>
        <p:nvSpPr>
          <p:cNvPr id="18" name="Oval 17"/>
          <p:cNvSpPr/>
          <p:nvPr/>
        </p:nvSpPr>
        <p:spPr>
          <a:xfrm>
            <a:off x="10012680" y="1894772"/>
            <a:ext cx="731520" cy="731520"/>
          </a:xfrm>
          <a:prstGeom prst="ellipse">
            <a:avLst/>
          </a:prstGeom>
          <a:solidFill>
            <a:srgbClr val="15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9006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Expand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261292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5120F"/>
                </a:solidFill>
                <a:latin typeface="Calibri"/>
              </a:rPr>
              <a:t>Same rules in any CREAM township; more solar means more income.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5897880"/>
            <a:ext cx="8138160" cy="64008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94560" y="589788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15120F"/>
                </a:solidFill>
                <a:latin typeface="Calibri"/>
              </a:rPr>
              <a:t>The first shadow report is back within a day (planned).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572000"/>
            <a:ext cx="3977639" cy="1143000"/>
          </a:xfrm>
          <a:prstGeom prst="roundRect">
            <a:avLst>
              <a:gd name="adj" fmla="val 12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000" b="1">
                <a:solidFill>
                  <a:srgbClr val="B0552F"/>
                </a:solidFill>
                <a:latin typeface="Calibri"/>
              </a:rPr>
              <a:t>Build to pilot: ~4–6 weeks</a:t>
            </a:r>
          </a:p>
          <a:p>
            <a:pPr algn="ctr"/>
            <a:r>
              <a:rPr sz="1400">
                <a:solidFill>
                  <a:srgbClr val="15120F"/>
                </a:solidFill>
                <a:latin typeface="Calibri"/>
              </a:rPr>
              <a:t>Estimate. Prototype works; left: SDP file import, notice export, security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572000"/>
            <a:ext cx="3977639" cy="1143000"/>
          </a:xfrm>
          <a:prstGeom prst="roundRect">
            <a:avLst>
              <a:gd name="adj" fmla="val 12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000" b="1">
                <a:solidFill>
                  <a:srgbClr val="B0552F"/>
                </a:solidFill>
                <a:latin typeface="Calibri"/>
              </a:rPr>
              <a:t>Upkeep: near zero</a:t>
            </a:r>
          </a:p>
          <a:p>
            <a:pPr algn="ctr"/>
            <a:r>
              <a:rPr sz="1400">
                <a:solidFill>
                  <a:srgbClr val="15120F"/>
                </a:solidFill>
                <a:latin typeface="Calibri"/>
              </a:rPr>
              <a:t>No hardware, no model to retrain; only update rates if the Energy Commission changes them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7) VISUAL CONCEPT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Explore the working prototype</a:t>
            </a:r>
          </a:p>
        </p:txBody>
      </p:sp>
      <p:pic>
        <p:nvPicPr>
          <p:cNvPr id="5" name="Operator app" descr="prototype-2-allo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5029200" cy="3143250"/>
          </a:xfrm>
          <a:prstGeom prst="rect">
            <a:avLst/>
          </a:prstGeom>
        </p:spPr>
      </p:pic>
      <p:pic>
        <p:nvPicPr>
          <p:cNvPr id="6" name="Testing suite" descr="testing-5-all-schemes-medi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37360"/>
            <a:ext cx="5029200" cy="31432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37360"/>
            <a:ext cx="5029200" cy="3143250"/>
          </a:xfrm>
          <a:prstGeom prst="roundRect">
            <a:avLst>
              <a:gd name="adj" fmla="val 1000"/>
            </a:avLst>
          </a:prstGeom>
          <a:noFill/>
          <a:ln w="15875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5029200" cy="3143250"/>
          </a:xfrm>
          <a:prstGeom prst="roundRect">
            <a:avLst>
              <a:gd name="adj" fmla="val 1000"/>
            </a:avLst>
          </a:prstGeom>
          <a:noFill/>
          <a:ln w="15875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E5048"/>
                </a:solidFill>
                <a:latin typeface="Calibri"/>
              </a:rPr>
              <a:t>Operator app: deadlines, estimate,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029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E5048"/>
                </a:solidFill>
                <a:latin typeface="Calibri"/>
              </a:rPr>
              <a:t>Testing suite: every claim, re-runnable</a:t>
            </a:r>
          </a:p>
        </p:txBody>
      </p:sp>
      <p:sp>
        <p:nvSpPr>
          <p:cNvPr id="11" name="Link https://wattwise-promax.netlify.app/admin.html">
            <a:hlinkClick r:id="rId5"/>
          </p:cNvPr>
          <p:cNvSpPr/>
          <p:nvPr/>
        </p:nvSpPr>
        <p:spPr>
          <a:xfrm>
            <a:off x="822960" y="5486400"/>
            <a:ext cx="5029200" cy="640080"/>
          </a:xfrm>
          <a:prstGeom prst="roundRect">
            <a:avLst>
              <a:gd name="adj" fmla="val 50000"/>
            </a:avLst>
          </a:prstGeom>
          <a:solidFill>
            <a:srgbClr val="EA6B3D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OPEN THE LIVE DASHBOARD</a:t>
            </a:r>
          </a:p>
        </p:txBody>
      </p:sp>
      <p:sp>
        <p:nvSpPr>
          <p:cNvPr id="12" name="Link https://wattwise-promax.netlify.app/tests.html">
            <a:hlinkClick r:id="rId6"/>
          </p:cNvPr>
          <p:cNvSpPr/>
          <p:nvPr/>
        </p:nvSpPr>
        <p:spPr>
          <a:xfrm>
            <a:off x="6355080" y="5486400"/>
            <a:ext cx="502920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5120F"/>
                </a:solidFill>
                <a:latin typeface="Calibri"/>
              </a:rPr>
              <a:t>OPEN THE TESTING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5E5048"/>
                </a:solidFill>
                <a:latin typeface="Calibri"/>
              </a:rPr>
              <a:t>Code and data: </a:t>
            </a:r>
            <a:r>
              <a:rPr sz="1400" b="0">
                <a:solidFill>
                  <a:srgbClr val="5E5048"/>
                </a:solidFill>
                <a:latin typeface="Calibri"/>
                <a:hlinkClick r:id="rId7"/>
              </a:rPr>
              <a:t>github.com/ttc-099/Wattwise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Artwor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  <a:ln>
            <a:solidFill>
              <a:srgbClr val="EA6B3D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628960" y="618587"/>
            <a:ext cx="8159963" cy="634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999"/>
              </a:lnSpc>
            </a:pPr>
            <a:r>
              <a:rPr sz="4000" b="1" dirty="0">
                <a:solidFill>
                  <a:srgbClr val="000000"/>
                </a:solidFill>
                <a:latin typeface="Arial Black"/>
              </a:rPr>
              <a:t>8) WHY WE SHOULD WIN</a:t>
            </a:r>
          </a:p>
        </p:txBody>
      </p:sp>
      <p:sp>
        <p:nvSpPr>
          <p:cNvPr id="31" name="Why we deserve recognition"/>
          <p:cNvSpPr txBox="1"/>
          <p:nvPr/>
        </p:nvSpPr>
        <p:spPr>
          <a:xfrm>
            <a:off x="914400" y="1463040"/>
            <a:ext cx="10360152" cy="2106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sz="2000" dirty="0">
                <a:solidFill>
                  <a:srgbClr val="15120F"/>
                </a:solidFill>
                <a:latin typeface="Calibri"/>
              </a:rPr>
              <a:t>Malaysia’s grid is under growing pressure from data-</a:t>
            </a:r>
            <a:r>
              <a:rPr sz="2000" dirty="0" err="1">
                <a:solidFill>
                  <a:srgbClr val="15120F"/>
                </a:solidFill>
                <a:latin typeface="Calibri"/>
              </a:rPr>
              <a:t>centre</a:t>
            </a:r>
            <a:r>
              <a:rPr sz="2000" dirty="0">
                <a:solidFill>
                  <a:srgbClr val="15120F"/>
                </a:solidFill>
                <a:latin typeface="Calibri"/>
              </a:rPr>
              <a:t> demand and rising rooftop solar (Selan, 2026). CREAM lets residents’ solar serve nearby businesses, but fixed shares filed 120 days ahead send about 6% of it back to the grid unused. </a:t>
            </a:r>
            <a:r>
              <a:rPr sz="2000" dirty="0" err="1">
                <a:solidFill>
                  <a:srgbClr val="15120F"/>
                </a:solidFill>
                <a:latin typeface="Calibri"/>
              </a:rPr>
              <a:t>WattWise</a:t>
            </a:r>
            <a:r>
              <a:rPr sz="2000" dirty="0">
                <a:solidFill>
                  <a:srgbClr val="15120F"/>
                </a:solidFill>
                <a:latin typeface="Calibri"/>
              </a:rPr>
              <a:t> sizes each share from the buyer’s own meter history and cuts that to about 1.3%, so more local solar is used locally. It deserves recognition because it’s practical and checkable: a working prototype, tested on real meters from 821 buildings, with every number re-runnable by judges.</a:t>
            </a:r>
          </a:p>
        </p:txBody>
      </p:sp>
      <p:pic>
        <p:nvPicPr>
          <p:cNvPr id="32" name="Photo - Sheri Anne Chong Ting Ting" descr="Photo of Sheri Anne Chong Ting Ting (right-click &gt; Change Pictur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967" y="3967845"/>
            <a:ext cx="1554480" cy="1554480"/>
          </a:xfrm>
          <a:prstGeom prst="rect">
            <a:avLst/>
          </a:prstGeom>
          <a:ln w="28575">
            <a:solidFill>
              <a:srgbClr val="EA6B3D"/>
            </a:solidFill>
          </a:ln>
        </p:spPr>
      </p:pic>
      <p:sp>
        <p:nvSpPr>
          <p:cNvPr id="33" name="Name - Sheri Anne Chong Ting Ting"/>
          <p:cNvSpPr txBox="1"/>
          <p:nvPr/>
        </p:nvSpPr>
        <p:spPr>
          <a:xfrm>
            <a:off x="952347" y="5613765"/>
            <a:ext cx="2331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500" b="1" dirty="0">
                <a:solidFill>
                  <a:srgbClr val="15120F"/>
                </a:solidFill>
                <a:latin typeface="Calibri"/>
              </a:rPr>
              <a:t>Sheri Anne</a:t>
            </a:r>
          </a:p>
          <a:p>
            <a:pPr algn="ctr"/>
            <a:r>
              <a:rPr lang="en-MY" sz="1500" b="1" dirty="0">
                <a:solidFill>
                  <a:srgbClr val="15120F"/>
                </a:solidFill>
                <a:latin typeface="Calibri"/>
              </a:rPr>
              <a:t>Chong Ting Ting</a:t>
            </a:r>
            <a:endParaRPr sz="1500"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34" name="Role - Sheri Anne Chong Ting Ting"/>
          <p:cNvSpPr txBox="1"/>
          <p:nvPr/>
        </p:nvSpPr>
        <p:spPr>
          <a:xfrm>
            <a:off x="952347" y="6119953"/>
            <a:ext cx="2331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600" b="0" dirty="0">
                <a:solidFill>
                  <a:srgbClr val="EA6B3D"/>
                </a:solidFill>
                <a:latin typeface="Calibri"/>
              </a:rPr>
              <a:t>Le</a:t>
            </a:r>
            <a:r>
              <a:rPr sz="1600" b="0" dirty="0">
                <a:solidFill>
                  <a:srgbClr val="EA6B3D"/>
                </a:solidFill>
                <a:latin typeface="Calibri"/>
              </a:rPr>
              <a:t>ad, full-stack</a:t>
            </a:r>
          </a:p>
        </p:txBody>
      </p:sp>
      <p:pic>
        <p:nvPicPr>
          <p:cNvPr id="35" name="Photo - Ong Hui Min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92727" y="3967845"/>
            <a:ext cx="1554480" cy="1554480"/>
          </a:xfrm>
          <a:prstGeom prst="rect">
            <a:avLst/>
          </a:prstGeom>
          <a:ln w="28575">
            <a:solidFill>
              <a:srgbClr val="EA6B3D"/>
            </a:solidFill>
          </a:ln>
        </p:spPr>
      </p:pic>
      <p:sp>
        <p:nvSpPr>
          <p:cNvPr id="36" name="Name - Ong Hui Min"/>
          <p:cNvSpPr txBox="1"/>
          <p:nvPr/>
        </p:nvSpPr>
        <p:spPr>
          <a:xfrm>
            <a:off x="3604107" y="5613765"/>
            <a:ext cx="2331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15120F"/>
                </a:solidFill>
                <a:latin typeface="Calibri"/>
              </a:rPr>
              <a:t>Ong </a:t>
            </a:r>
            <a:endParaRPr lang="en-MY" sz="1500" b="1" dirty="0">
              <a:solidFill>
                <a:srgbClr val="15120F"/>
              </a:solidFill>
              <a:latin typeface="Calibri"/>
            </a:endParaRPr>
          </a:p>
          <a:p>
            <a:pPr algn="ctr"/>
            <a:r>
              <a:rPr sz="1500" b="1" dirty="0">
                <a:solidFill>
                  <a:srgbClr val="15120F"/>
                </a:solidFill>
                <a:latin typeface="Calibri"/>
              </a:rPr>
              <a:t>Hui Min</a:t>
            </a:r>
          </a:p>
        </p:txBody>
      </p:sp>
      <p:sp>
        <p:nvSpPr>
          <p:cNvPr id="37" name="Role - Ong Hui Min"/>
          <p:cNvSpPr txBox="1"/>
          <p:nvPr/>
        </p:nvSpPr>
        <p:spPr>
          <a:xfrm>
            <a:off x="3604107" y="6119953"/>
            <a:ext cx="2331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A6B3D"/>
                </a:solidFill>
                <a:latin typeface="Calibri"/>
              </a:rPr>
              <a:t>UI/UX developer, research</a:t>
            </a:r>
          </a:p>
        </p:txBody>
      </p:sp>
      <p:pic>
        <p:nvPicPr>
          <p:cNvPr id="38" name="Photo - Jess Lau Xi En" descr="Photo of Jess Lau Xi En (right-click &gt; Change Pictur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487" y="3967845"/>
            <a:ext cx="1554480" cy="1554480"/>
          </a:xfrm>
          <a:prstGeom prst="rect">
            <a:avLst/>
          </a:prstGeom>
          <a:ln w="28575">
            <a:solidFill>
              <a:srgbClr val="EA6B3D"/>
            </a:solidFill>
          </a:ln>
        </p:spPr>
      </p:pic>
      <p:sp>
        <p:nvSpPr>
          <p:cNvPr id="39" name="Name - Jess Lau Xi En"/>
          <p:cNvSpPr txBox="1"/>
          <p:nvPr/>
        </p:nvSpPr>
        <p:spPr>
          <a:xfrm>
            <a:off x="6255867" y="5613765"/>
            <a:ext cx="2331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15120F"/>
                </a:solidFill>
                <a:latin typeface="Calibri"/>
              </a:rPr>
              <a:t>Jess </a:t>
            </a:r>
            <a:endParaRPr lang="en-MY" sz="1500" b="1" dirty="0">
              <a:solidFill>
                <a:srgbClr val="15120F"/>
              </a:solidFill>
              <a:latin typeface="Calibri"/>
            </a:endParaRPr>
          </a:p>
          <a:p>
            <a:pPr algn="ctr"/>
            <a:r>
              <a:rPr sz="1500" b="1" dirty="0">
                <a:solidFill>
                  <a:srgbClr val="15120F"/>
                </a:solidFill>
                <a:latin typeface="Calibri"/>
              </a:rPr>
              <a:t>Lau Xi En</a:t>
            </a:r>
          </a:p>
        </p:txBody>
      </p:sp>
      <p:sp>
        <p:nvSpPr>
          <p:cNvPr id="40" name="Role - Jess Lau Xi En"/>
          <p:cNvSpPr txBox="1"/>
          <p:nvPr/>
        </p:nvSpPr>
        <p:spPr>
          <a:xfrm>
            <a:off x="6255867" y="6119953"/>
            <a:ext cx="2331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A6B3D"/>
                </a:solidFill>
                <a:latin typeface="Calibri"/>
              </a:rPr>
              <a:t>UI/UX designer, developer</a:t>
            </a:r>
          </a:p>
        </p:txBody>
      </p:sp>
      <p:pic>
        <p:nvPicPr>
          <p:cNvPr id="41" name="Photo - Lim Poh Shiu"/>
          <p:cNvPicPr>
            <a:picLocks noChangeAspect="1"/>
          </p:cNvPicPr>
          <p:nvPr/>
        </p:nvPicPr>
        <p:blipFill>
          <a:blip r:embed="rId6"/>
          <a:srcRect t="11955"/>
          <a:stretch>
            <a:fillRect/>
          </a:stretch>
        </p:blipFill>
        <p:spPr>
          <a:xfrm>
            <a:off x="9337417" y="3919708"/>
            <a:ext cx="1472139" cy="1650754"/>
          </a:xfrm>
          <a:prstGeom prst="rect">
            <a:avLst/>
          </a:prstGeom>
          <a:ln w="28575">
            <a:solidFill>
              <a:srgbClr val="EA6B3D"/>
            </a:solidFill>
          </a:ln>
        </p:spPr>
      </p:pic>
      <p:sp>
        <p:nvSpPr>
          <p:cNvPr id="42" name="Name - Lim Poh Shiu"/>
          <p:cNvSpPr txBox="1"/>
          <p:nvPr/>
        </p:nvSpPr>
        <p:spPr>
          <a:xfrm>
            <a:off x="8907627" y="5613765"/>
            <a:ext cx="2331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15120F"/>
                </a:solidFill>
                <a:latin typeface="Calibri"/>
              </a:rPr>
              <a:t>Lim </a:t>
            </a:r>
            <a:endParaRPr lang="en-MY" sz="1500" b="1" dirty="0">
              <a:solidFill>
                <a:srgbClr val="15120F"/>
              </a:solidFill>
              <a:latin typeface="Calibri"/>
            </a:endParaRPr>
          </a:p>
          <a:p>
            <a:pPr algn="ctr"/>
            <a:r>
              <a:rPr sz="1500" b="1" dirty="0">
                <a:solidFill>
                  <a:srgbClr val="15120F"/>
                </a:solidFill>
                <a:latin typeface="Calibri"/>
              </a:rPr>
              <a:t>Poh Shiu</a:t>
            </a:r>
          </a:p>
        </p:txBody>
      </p:sp>
      <p:sp>
        <p:nvSpPr>
          <p:cNvPr id="43" name="Role - Lim Poh Shiu"/>
          <p:cNvSpPr txBox="1"/>
          <p:nvPr/>
        </p:nvSpPr>
        <p:spPr>
          <a:xfrm>
            <a:off x="8907627" y="6119953"/>
            <a:ext cx="2331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A6B3D"/>
                </a:solidFill>
                <a:latin typeface="Calibri"/>
              </a:rPr>
              <a:t>Data analyst, QA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06EA2F-C07F-9383-682C-65B8D5FDAA9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692" t="5642" r="19386" b="55175"/>
          <a:stretch>
            <a:fillRect/>
          </a:stretch>
        </p:blipFill>
        <p:spPr>
          <a:xfrm>
            <a:off x="1340967" y="3967845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twork" descr="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62454" y="2344264"/>
            <a:ext cx="2601817" cy="2539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99"/>
              </a:lnSpc>
            </a:pPr>
            <a:r>
              <a:rPr sz="1600" b="1">
                <a:solidFill>
                  <a:srgbClr val="000000"/>
                </a:solidFill>
                <a:latin typeface="Calibri"/>
              </a:rPr>
              <a:t>FROM TEAM PROMAX,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2454" y="2878791"/>
            <a:ext cx="7458906" cy="12275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65"/>
              </a:lnSpc>
            </a:pPr>
            <a:r>
              <a:rPr sz="7750" b="1">
                <a:solidFill>
                  <a:srgbClr val="000000"/>
                </a:solidFill>
                <a:latin typeface="Arial Black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3352" y="3841064"/>
            <a:ext cx="6493028" cy="7513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916"/>
              </a:lnSpc>
            </a:pPr>
            <a:r>
              <a:rPr sz="4750" b="1">
                <a:solidFill>
                  <a:srgbClr val="000000"/>
                </a:solidFill>
                <a:latin typeface="Arial Black"/>
              </a:rPr>
              <a:t>FOR YOUR TIME!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558" y="4762816"/>
            <a:ext cx="2500529" cy="2328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33"/>
              </a:lnSpc>
            </a:pPr>
            <a:r>
              <a:rPr sz="1450" b="0">
                <a:solidFill>
                  <a:srgbClr val="FFFFFF"/>
                </a:solidFill>
                <a:latin typeface="Calibri"/>
              </a:rPr>
              <a:t>Completed: 23 Oct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15120F"/>
                </a:solidFill>
                <a:latin typeface="Arial Black"/>
              </a:rPr>
              <a:t>APPENDIX A: DOES IT REALLY REDUCE SOLAR GIVEAWAY?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88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Median share of the year's solar given away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097280" y="1645920"/>
          <a:ext cx="9966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0" y="580644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5120F"/>
                </a:solidFill>
                <a:latin typeface="Calibri"/>
              </a:rPr>
              <a:t>Fixed split 6.05% → WattWise 1.34% for buyer pairs.</a:t>
            </a:r>
          </a:p>
        </p:txBody>
      </p:sp>
      <p:sp>
        <p:nvSpPr>
          <p:cNvPr id="7" name="Link https://wattwise-promax.netlify.app/tests.html#a">
            <a:hlinkClick r:id="rId4"/>
          </p:cNvPr>
          <p:cNvSpPr/>
          <p:nvPr/>
        </p:nvSpPr>
        <p:spPr>
          <a:xfrm>
            <a:off x="9052560" y="58064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 it yourself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767676"/>
                </a:solidFill>
                <a:latin typeface="Calibri"/>
              </a:rPr>
              <a:t>Real meters, 821 buildings (Miller et al., 2020); rooftop solar at Elmina (European Commission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JRC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, 2022);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WattWise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 (2026).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370106"/>
            <a:ext cx="7955279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dirty="0">
                <a:solidFill>
                  <a:srgbClr val="15120F"/>
                </a:solidFill>
                <a:latin typeface="Arial Black"/>
              </a:rPr>
              <a:t>APPENDIX B: </a:t>
            </a:r>
            <a:r>
              <a:rPr lang="en-MY" sz="2200" dirty="0">
                <a:solidFill>
                  <a:srgbClr val="15120F"/>
                </a:solidFill>
                <a:latin typeface="Arial Black"/>
              </a:rPr>
              <a:t>HOW MUCH INCOME DOES IT ADD FOR SDP?</a:t>
            </a:r>
            <a:endParaRPr sz="2200" b="0" dirty="0">
              <a:solidFill>
                <a:srgbClr val="15120F"/>
              </a:solidFill>
              <a:latin typeface="Arial Black"/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1828800" y="1188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Extra gross scheme income a year, by assumed CREAM price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097280" y="1645920"/>
          <a:ext cx="9966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0" y="580644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5120F"/>
                </a:solidFill>
                <a:latin typeface="Calibri"/>
              </a:rPr>
              <a:t>Modest and price-dependent; roof-lease terms are SDP's private deal.</a:t>
            </a:r>
          </a:p>
        </p:txBody>
      </p:sp>
      <p:sp>
        <p:nvSpPr>
          <p:cNvPr id="7" name="Link https://wattwise-promax.netlify.app/tests.html#b">
            <a:hlinkClick r:id="rId4"/>
          </p:cNvPr>
          <p:cNvSpPr/>
          <p:nvPr/>
        </p:nvSpPr>
        <p:spPr>
          <a:xfrm>
            <a:off x="9052560" y="58064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 it yourself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Modelled, 2 buyers assumed. Before roof-lease payments, costs and tax. At 15 sen the gain would be larger, but 15 sen is below the 17 sen NEDA break-even.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370106"/>
            <a:ext cx="7955279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15120F"/>
                </a:solidFill>
                <a:latin typeface="Arial Black"/>
              </a:rPr>
              <a:t>APPENDIX B (CONTINUED): HOW MUCH AT SDP’S 6,000-HOME TARGET?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What WattWise adds to a 6,000-home scheme (modelled)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914400" y="1691640"/>
          <a:ext cx="66751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30352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E5048"/>
                </a:solidFill>
                <a:latin typeface="Calibri"/>
              </a:rPr>
              <a:t>Extra gross income a year vs a fixed split, by assumed CREAM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359136"/>
            <a:ext cx="3947160" cy="61555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000" b="0" dirty="0" err="1">
                <a:solidFill>
                  <a:srgbClr val="AD5330"/>
                </a:solidFill>
                <a:latin typeface="Arial Black"/>
              </a:rPr>
              <a:t>RM108k</a:t>
            </a:r>
            <a:r>
              <a:rPr sz="4000" b="0" dirty="0">
                <a:solidFill>
                  <a:srgbClr val="AD5330"/>
                </a:solidFill>
                <a:latin typeface="Arial Black"/>
              </a:rPr>
              <a:t>–</a:t>
            </a:r>
            <a:r>
              <a:rPr sz="4000" b="0" dirty="0" err="1">
                <a:solidFill>
                  <a:srgbClr val="AD5330"/>
                </a:solidFill>
                <a:latin typeface="Arial Black"/>
              </a:rPr>
              <a:t>265k</a:t>
            </a:r>
            <a:endParaRPr sz="4000" b="0" dirty="0">
              <a:solidFill>
                <a:srgbClr val="AD5330"/>
              </a:solidFill>
              <a:latin typeface="Arial Blac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0" y="3020408"/>
            <a:ext cx="3947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E5048"/>
                </a:solidFill>
                <a:latin typeface="Calibri"/>
              </a:rPr>
              <a:t>a year more than a fixed yearly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819287"/>
            <a:ext cx="3566160" cy="61555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000" b="0" dirty="0">
                <a:solidFill>
                  <a:srgbClr val="EA6B3D"/>
                </a:solidFill>
                <a:latin typeface="Arial Black"/>
              </a:rPr>
              <a:t>1.4%–6.6%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480560"/>
            <a:ext cx="35661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E5048"/>
                </a:solidFill>
                <a:latin typeface="Calibri"/>
              </a:rPr>
              <a:t>of the scheme's total yearly income (RM4.0M–7.9M)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487" y="5029200"/>
            <a:ext cx="356616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5E5048"/>
                </a:solidFill>
                <a:latin typeface="Calibri"/>
              </a:rPr>
              <a:t>6,000 homes (≈41,000 MWh a year), 2 buyers assumed. Before roof-lease payments, costs and tax.</a:t>
            </a:r>
          </a:p>
        </p:txBody>
      </p:sp>
      <p:sp>
        <p:nvSpPr>
          <p:cNvPr id="12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Modelled; the CREAM price is private (assumed 20–30 sen/kWh). Scheme income is after the 9 sen grid access charge. Below 17 sen, selling to NEDA beats selling to a buyer.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608320"/>
            <a:ext cx="6675120" cy="566928"/>
          </a:xfrm>
          <a:prstGeom prst="roundRect">
            <a:avLst>
              <a:gd name="adj" fmla="val 20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137160" bIns="27432" rtlCol="0" anchor="ctr"/>
          <a:lstStyle/>
          <a:p>
            <a:pPr algn="ctr"/>
            <a:r>
              <a:rPr sz="1400" b="1" dirty="0">
                <a:solidFill>
                  <a:srgbClr val="B0552F"/>
                </a:solidFill>
                <a:latin typeface="Calibri"/>
              </a:rPr>
              <a:t>Scales with solar generated: </a:t>
            </a:r>
            <a:r>
              <a:rPr sz="1400" b="0" dirty="0">
                <a:solidFill>
                  <a:srgbClr val="15120F"/>
                </a:solidFill>
                <a:latin typeface="Calibri"/>
              </a:rPr>
              <a:t>about </a:t>
            </a:r>
            <a:r>
              <a:rPr sz="1400" b="0" dirty="0" err="1">
                <a:solidFill>
                  <a:srgbClr val="15120F"/>
                </a:solidFill>
                <a:latin typeface="Calibri"/>
              </a:rPr>
              <a:t>RM2.6k</a:t>
            </a:r>
            <a:r>
              <a:rPr sz="1400" b="0" dirty="0">
                <a:solidFill>
                  <a:srgbClr val="15120F"/>
                </a:solidFill>
                <a:latin typeface="Calibri"/>
              </a:rPr>
              <a:t>–</a:t>
            </a:r>
            <a:r>
              <a:rPr sz="1400" b="0" dirty="0" err="1">
                <a:solidFill>
                  <a:srgbClr val="15120F"/>
                </a:solidFill>
                <a:latin typeface="Calibri"/>
              </a:rPr>
              <a:t>6.4k</a:t>
            </a:r>
            <a:r>
              <a:rPr sz="1400" b="0" dirty="0">
                <a:solidFill>
                  <a:srgbClr val="15120F"/>
                </a:solidFill>
                <a:latin typeface="Calibri"/>
              </a:rPr>
              <a:t> per 1,000 MWh a year (30 to 20 </a:t>
            </a:r>
            <a:r>
              <a:rPr sz="1400" b="0" dirty="0" err="1">
                <a:solidFill>
                  <a:srgbClr val="15120F"/>
                </a:solidFill>
                <a:latin typeface="Calibri"/>
              </a:rPr>
              <a:t>sen</a:t>
            </a:r>
            <a:r>
              <a:rPr sz="1400" b="0" dirty="0">
                <a:solidFill>
                  <a:srgbClr val="15120F"/>
                </a:solidFill>
                <a:latin typeface="Calibri"/>
              </a:rPr>
              <a:t>). More roofs mean more income; more buyers do not.</a:t>
            </a:r>
          </a:p>
        </p:txBody>
      </p:sp>
      <p:sp>
        <p:nvSpPr>
          <p:cNvPr id="14" name="Appendix reference"/>
          <p:cNvSpPr txBox="1"/>
          <p:nvPr/>
        </p:nvSpPr>
        <p:spPr>
          <a:xfrm>
            <a:off x="1097280" y="6583680"/>
            <a:ext cx="10058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>
                <a:solidFill>
                  <a:srgbClr val="A6A6A6"/>
                </a:solidFill>
                <a:latin typeface="Calibri"/>
              </a:rPr>
              <a:t>Check these numbers: Appendix B (extra income by CREAM price and scheme size).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15120F"/>
                </a:solidFill>
                <a:latin typeface="Arial Black"/>
              </a:rPr>
              <a:t>APPENDIX C: WILL THERE REALLY BE SPACE FOR 20% MORE CREAM CONTRIBUTORS?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88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Solar given away when the solar pool is built larger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097280" y="1645920"/>
          <a:ext cx="9966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0" y="580644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5120F"/>
                </a:solidFill>
                <a:latin typeface="Calibri"/>
              </a:rPr>
              <a:t>Still below today's fixed split, but ~76% of the extra solar sells via NEDA at 8 sen.</a:t>
            </a:r>
          </a:p>
        </p:txBody>
      </p:sp>
      <p:sp>
        <p:nvSpPr>
          <p:cNvPr id="7" name="Link https://wattwise-promax.netlify.app/tests.html#c">
            <a:hlinkClick r:id="rId4"/>
          </p:cNvPr>
          <p:cNvSpPr/>
          <p:nvPr/>
        </p:nvSpPr>
        <p:spPr>
          <a:xfrm>
            <a:off x="9052560" y="58064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 it yourself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Feeder limits (2 MWp each), roof availability and lease take-up are not modelled (WattWise, 2026).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370572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dirty="0">
                <a:solidFill>
                  <a:srgbClr val="15120F"/>
                </a:solidFill>
                <a:latin typeface="Arial Black"/>
              </a:rPr>
              <a:t>APPENDIX D: DYNAMIC SPLITTING WORKS BETTER THAN FIXED ONES?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284972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Share of cases where WattWise gives away less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097280" y="1645920"/>
          <a:ext cx="9966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0" y="580644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5120F"/>
                </a:solidFill>
                <a:latin typeface="Calibri"/>
              </a:rPr>
              <a:t>Beats fixed in almost every case; above ~20 sen, copying last year earns slightly more.</a:t>
            </a:r>
          </a:p>
        </p:txBody>
      </p:sp>
      <p:sp>
        <p:nvSpPr>
          <p:cNvPr id="7" name="Link https://wattwise-promax.netlify.app/tests.html#d">
            <a:hlinkClick r:id="rId4"/>
          </p:cNvPr>
          <p:cNvSpPr/>
          <p:nvPr/>
        </p:nvSpPr>
        <p:spPr>
          <a:xfrm>
            <a:off x="9052560" y="58064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 it yourself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Real meters, 821 buildings (Miller et al., 2020); WattWise (2026).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APPENDIX E: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5097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Energy Commission (2025) Guidelines for Community Renewable Energy Aggregation Mechanism (CREAM), GP/ST/No.55/2025. Putrajaya: Suruhanjaya Tenaga.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Energy Commission (2026) Grid Emission Factor (GEF) in Malaysia, 2022–2024 (Provisional). Putrajaya: Suruhanjaya Tenaga, 23 February. https://myenergystats.st.gov.my/documents/d/guest/grid-emission-factor-gef-in-malaysia-2022-2024-provisional-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European Commission Joint Research Centre (2022) Photovoltaic Geographical Information System (PVGIS) 5.2. https://re.jrc.ec.europa.eu/pvg_tools/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Miller, C. et al. (2020) 'The Building Data Genome Project 2', Scientific Data, 7, 368. https://doi.org/10.1038/s41597-020-00712-x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Selan, S. (2026) ‘Malaysia’s power grid strains under data centre boom and renewables growth’, Eco-Business, 15 September. https://www.eco-business.com/news/malaysias-power-grid-strains-under-data-centre-boom-and-renewables-growth/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Sime Darby Property (2026a) Integrated Annual Report 2025. Sime Darby Property (2026b) Sustainability Report 2025.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Skrine (2025) Energy Commission issues guidelines for Malaysia's CREAM [Legal alert]. April.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The Malaysian Reserve (2025) 'Sime Darby Property, TNB launch pilot solar project under CREAM to power homes, industries', 26 September.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>
                <a:solidFill>
                  <a:srgbClr val="15120F"/>
                </a:solidFill>
                <a:latin typeface="Calibri"/>
              </a:rPr>
              <a:t>WattWise (2026) WattWise code and results. https://github.com/ttc-099/Wattwise. Every figure is rebuilt by python replay.py in 02 Scheduler Module.</a:t>
            </a:r>
          </a:p>
        </p:txBody>
      </p:sp>
      <p:sp>
        <p:nvSpPr>
          <p:cNvPr id="5" name="Link https://wattwise-promax.netlify.app/tests.html#references">
            <a:hlinkClick r:id="rId3"/>
          </p:cNvPr>
          <p:cNvSpPr/>
          <p:nvPr/>
        </p:nvSpPr>
        <p:spPr>
          <a:xfrm>
            <a:off x="4297680" y="589788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References in the testing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2092</Words>
  <Application>Microsoft Office PowerPoint</Application>
  <PresentationFormat>Widescreen</PresentationFormat>
  <Paragraphs>228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2026-10-21T21:10:39Z</dcterms:modified>
  <cp:category/>
</cp:coreProperties>
</file>