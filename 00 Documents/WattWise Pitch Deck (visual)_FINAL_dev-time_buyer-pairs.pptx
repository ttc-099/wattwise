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67" r:id="rId14"/>
    <p:sldId id="268" r:id="rId15"/>
    <p:sldId id="279" r:id="rId16"/>
    <p:sldId id="280" r:id="rId17"/>
    <p:sldId id="281" r:id="rId18"/>
    <p:sldId id="282" r:id="rId19"/>
    <p:sldId id="28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6B3D"/>
    <a:srgbClr val="FA4412"/>
    <a:srgbClr val="FA86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67" y="7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eri Chong (satc1g24)" userId="25a1ca38-08ff-46ce-bfdf-6d4151510b9a" providerId="ADAL" clId="{257AD2E9-DEE2-4212-A59B-71ADFD285D22}"/>
    <pc:docChg chg="custSel modSld">
      <pc:chgData name="Sheri Chong (satc1g24)" userId="25a1ca38-08ff-46ce-bfdf-6d4151510b9a" providerId="ADAL" clId="{257AD2E9-DEE2-4212-A59B-71ADFD285D22}" dt="2026-10-21T17:25:48.425" v="192" actId="207"/>
      <pc:docMkLst>
        <pc:docMk/>
      </pc:docMkLst>
      <pc:sldChg chg="modSp mod">
        <pc:chgData name="Sheri Chong (satc1g24)" userId="25a1ca38-08ff-46ce-bfdf-6d4151510b9a" providerId="ADAL" clId="{257AD2E9-DEE2-4212-A59B-71ADFD285D22}" dt="2026-10-21T17:25:48.425" v="192" actId="207"/>
        <pc:sldMkLst>
          <pc:docMk/>
          <pc:sldMk cId="0" sldId="271"/>
        </pc:sldMkLst>
        <pc:spChg chg="mod">
          <ac:chgData name="Sheri Chong (satc1g24)" userId="25a1ca38-08ff-46ce-bfdf-6d4151510b9a" providerId="ADAL" clId="{257AD2E9-DEE2-4212-A59B-71ADFD285D22}" dt="2026-10-21T17:25:25.500" v="190" actId="255"/>
          <ac:spMkLst>
            <pc:docMk/>
            <pc:sldMk cId="0" sldId="271"/>
            <ac:spMk id="6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17:25:48.425" v="192" actId="207"/>
          <ac:spMkLst>
            <pc:docMk/>
            <pc:sldMk cId="0" sldId="271"/>
            <ac:spMk id="8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17:25:25.500" v="190" actId="255"/>
          <ac:spMkLst>
            <pc:docMk/>
            <pc:sldMk cId="0" sldId="271"/>
            <ac:spMk id="10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17:25:25.500" v="190" actId="255"/>
          <ac:spMkLst>
            <pc:docMk/>
            <pc:sldMk cId="0" sldId="271"/>
            <ac:spMk id="12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17:09:22.011" v="62" actId="1035"/>
          <ac:spMkLst>
            <pc:docMk/>
            <pc:sldMk cId="0" sldId="271"/>
            <ac:spMk id="13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17:09:22.011" v="62" actId="1035"/>
          <ac:spMkLst>
            <pc:docMk/>
            <pc:sldMk cId="0" sldId="271"/>
            <ac:spMk id="14" creationId="{00000000-0000-0000-0000-000000000000}"/>
          </ac:spMkLst>
        </pc:spChg>
        <pc:spChg chg="mod">
          <ac:chgData name="Sheri Chong (satc1g24)" userId="25a1ca38-08ff-46ce-bfdf-6d4151510b9a" providerId="ADAL" clId="{257AD2E9-DEE2-4212-A59B-71ADFD285D22}" dt="2026-10-21T17:09:22.011" v="62" actId="1035"/>
          <ac:spMkLst>
            <pc:docMk/>
            <pc:sldMk cId="0" sldId="271"/>
            <ac:spMk id="15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Solar given away, % of the year</c:v>
                </c:pt>
              </c:strCache>
            </c:strRef>
          </c:tx>
          <c:spPr>
            <a:solidFill>
              <a:srgbClr val="F7931E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B7AA9C"/>
              </a:solidFill>
            </c:spPr>
            <c:extLst>
              <c:ext xmlns:c16="http://schemas.microsoft.com/office/drawing/2014/chart" uri="{C3380CC4-5D6E-409C-BE32-E72D297353CC}">
                <c16:uniqueId val="{00000001-95B5-4C17-AC1F-F476E22B0548}"/>
              </c:ext>
            </c:extLst>
          </c:dPt>
          <c:dPt>
            <c:idx val="1"/>
            <c:invertIfNegative val="1"/>
            <c:bubble3D val="0"/>
            <c:spPr>
              <a:solidFill>
                <a:srgbClr val="5E5048"/>
              </a:solidFill>
            </c:spPr>
            <c:extLst>
              <c:ext xmlns:c16="http://schemas.microsoft.com/office/drawing/2014/chart" uri="{C3380CC4-5D6E-409C-BE32-E72D297353CC}">
                <c16:uniqueId val="{00000003-95B5-4C17-AC1F-F476E22B0548}"/>
              </c:ext>
            </c:extLst>
          </c:dPt>
          <c:dPt>
            <c:idx val="2"/>
            <c:invertIfNegative val="1"/>
            <c:bubble3D val="0"/>
            <c:spPr>
              <a:solidFill>
                <a:srgbClr val="F7931E"/>
              </a:solidFill>
            </c:spPr>
            <c:extLst>
              <c:ext xmlns:c16="http://schemas.microsoft.com/office/drawing/2014/chart" uri="{C3380CC4-5D6E-409C-BE32-E72D297353CC}">
                <c16:uniqueId val="{00000005-95B5-4C17-AC1F-F476E22B0548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Fixed yearly split</c:v>
                </c:pt>
                <c:pt idx="1">
                  <c:v>Copy last year</c:v>
                </c:pt>
                <c:pt idx="2">
                  <c:v>WattWise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6.05</c:v>
                </c:pt>
                <c:pt idx="1">
                  <c:v>1.95</c:v>
                </c:pt>
                <c:pt idx="2">
                  <c:v>1.34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95B5-4C17-AC1F-F476E22B054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CE2D6"/>
            </a:solidFill>
          </a:ln>
        </c:spPr>
        <c:txPr>
          <a:bodyPr/>
          <a:lstStyle/>
          <a:p>
            <a:pPr>
              <a:defRPr sz="15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500">
          <a:solidFill>
            <a:srgbClr val="15120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Extra income, RM thousand a year</c:v>
                </c:pt>
              </c:strCache>
            </c:strRef>
          </c:tx>
          <c:spPr>
            <a:solidFill>
              <a:srgbClr val="F7931E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F7931E"/>
              </a:solidFill>
            </c:spPr>
            <c:extLst>
              <c:ext xmlns:c16="http://schemas.microsoft.com/office/drawing/2014/chart" uri="{C3380CC4-5D6E-409C-BE32-E72D297353CC}">
                <c16:uniqueId val="{00000001-28B7-43D2-B109-8A7AA17229E4}"/>
              </c:ext>
            </c:extLst>
          </c:dPt>
          <c:dPt>
            <c:idx val="1"/>
            <c:invertIfNegative val="1"/>
            <c:bubble3D val="0"/>
            <c:spPr>
              <a:solidFill>
                <a:srgbClr val="EA6B3D"/>
              </a:solidFill>
            </c:spPr>
            <c:extLst>
              <c:ext xmlns:c16="http://schemas.microsoft.com/office/drawing/2014/chart" uri="{C3380CC4-5D6E-409C-BE32-E72D297353CC}">
                <c16:uniqueId val="{00000003-28B7-43D2-B109-8A7AA17229E4}"/>
              </c:ext>
            </c:extLst>
          </c:dPt>
          <c:dPt>
            <c:idx val="2"/>
            <c:invertIfNegative val="1"/>
            <c:bubble3D val="0"/>
            <c:spPr>
              <a:solidFill>
                <a:srgbClr val="AD5330"/>
              </a:solidFill>
            </c:spPr>
            <c:extLst>
              <c:ext xmlns:c16="http://schemas.microsoft.com/office/drawing/2014/chart" uri="{C3380CC4-5D6E-409C-BE32-E72D297353CC}">
                <c16:uniqueId val="{00000005-28B7-43D2-B109-8A7AA17229E4}"/>
              </c:ext>
            </c:extLst>
          </c:dPt>
          <c:dLbls>
            <c:numFmt formatCode="&quot;RM&quot;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7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 sen/kWh</c:v>
                </c:pt>
                <c:pt idx="1">
                  <c:v>25 sen/kWh</c:v>
                </c:pt>
                <c:pt idx="2">
                  <c:v>30 sen/kWh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265</c:v>
                </c:pt>
                <c:pt idx="1">
                  <c:v>184</c:v>
                </c:pt>
                <c:pt idx="2">
                  <c:v>108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6-28B7-43D2-B109-8A7AA17229E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CE2D6"/>
            </a:solidFill>
          </a:ln>
        </c:spPr>
        <c:txPr>
          <a:bodyPr/>
          <a:lstStyle/>
          <a:p>
            <a:pPr>
              <a:defRPr sz="15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2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500">
          <a:solidFill>
            <a:srgbClr val="15120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Fixed split</c:v>
                </c:pt>
              </c:strCache>
            </c:strRef>
          </c:tx>
          <c:spPr>
            <a:solidFill>
              <a:srgbClr val="B7AA9C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buyer (821 cases)</c:v>
                </c:pt>
                <c:pt idx="1">
                  <c:v>2 buyers (407)</c:v>
                </c:pt>
                <c:pt idx="2">
                  <c:v>2 buyers, humid Texas site (42)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5.98</c:v>
                </c:pt>
                <c:pt idx="1">
                  <c:v>6.05</c:v>
                </c:pt>
                <c:pt idx="2">
                  <c:v>3.83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A94-4CA4-A099-DF9796832D6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Copy last year</c:v>
                </c:pt>
              </c:strCache>
            </c:strRef>
          </c:tx>
          <c:spPr>
            <a:solidFill>
              <a:srgbClr val="5E5048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buyer (821 cases)</c:v>
                </c:pt>
                <c:pt idx="1">
                  <c:v>2 buyers (407)</c:v>
                </c:pt>
                <c:pt idx="2">
                  <c:v>2 buyers, humid Texas site (42)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1.49</c:v>
                </c:pt>
                <c:pt idx="1">
                  <c:v>1.95</c:v>
                </c:pt>
                <c:pt idx="2">
                  <c:v>1.28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EA94-4CA4-A099-DF9796832D6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WattWise</c:v>
                </c:pt>
              </c:strCache>
            </c:strRef>
          </c:tx>
          <c:spPr>
            <a:solidFill>
              <a:srgbClr val="F7931E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 buyer (821 cases)</c:v>
                </c:pt>
                <c:pt idx="1">
                  <c:v>2 buyers (407)</c:v>
                </c:pt>
                <c:pt idx="2">
                  <c:v>2 buyers, humid Texas site (42)</c:v>
                </c:pt>
              </c:strCache>
            </c:strRef>
          </c:cat>
          <c:val>
            <c:numRef>
              <c:f>Sheet1!$D$2:$D$4</c:f>
              <c:numCache>
                <c:formatCode>0.0</c:formatCode>
                <c:ptCount val="3"/>
                <c:pt idx="0">
                  <c:v>0.95</c:v>
                </c:pt>
                <c:pt idx="1">
                  <c:v>1.34</c:v>
                </c:pt>
                <c:pt idx="2">
                  <c:v>0.85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EA94-4CA4-A099-DF9796832D6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CE2D6"/>
            </a:solidFill>
          </a:ln>
        </c:spPr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7.5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15120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Elmina's modelled size (1,368 roofs)</c:v>
                </c:pt>
              </c:strCache>
            </c:strRef>
          </c:tx>
          <c:spPr>
            <a:solidFill>
              <a:srgbClr val="F9B915"/>
            </a:solidFill>
          </c:spPr>
          <c:invertIfNegative val="1"/>
          <c:dLbls>
            <c:numFmt formatCode="&quot;RM&quot;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 sen/kWh</c:v>
                </c:pt>
                <c:pt idx="1">
                  <c:v>25 sen/kWh</c:v>
                </c:pt>
                <c:pt idx="2">
                  <c:v>30 sen/kWh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42</c:v>
                </c:pt>
                <c:pt idx="2">
                  <c:v>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0B04-413C-A802-DBFE3D6EE07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SDP's 6,000-home target</c:v>
                </c:pt>
              </c:strCache>
            </c:strRef>
          </c:tx>
          <c:spPr>
            <a:solidFill>
              <a:srgbClr val="F7931E"/>
            </a:solidFill>
          </c:spPr>
          <c:invertIfNegative val="1"/>
          <c:dLbls>
            <c:numFmt formatCode="&quot;RM&quot;0&quot;k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20 sen/kWh</c:v>
                </c:pt>
                <c:pt idx="1">
                  <c:v>25 sen/kWh</c:v>
                </c:pt>
                <c:pt idx="2">
                  <c:v>30 sen/kWh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265</c:v>
                </c:pt>
                <c:pt idx="1">
                  <c:v>184</c:v>
                </c:pt>
                <c:pt idx="2">
                  <c:v>108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0B04-413C-A802-DBFE3D6EE07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CE2D6"/>
            </a:solidFill>
          </a:ln>
        </c:spPr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2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15120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Fixed split</c:v>
                </c:pt>
              </c:strCache>
            </c:strRef>
          </c:tx>
          <c:spPr>
            <a:solidFill>
              <a:srgbClr val="B7AA9C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Today's size (1.0×)</c:v>
                </c:pt>
                <c:pt idx="1">
                  <c:v>10% larger (1.1×)</c:v>
                </c:pt>
                <c:pt idx="2">
                  <c:v>20% larger (1.2×)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6.05</c:v>
                </c:pt>
                <c:pt idx="1">
                  <c:v>11.58</c:v>
                </c:pt>
                <c:pt idx="2">
                  <c:v>17.55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CB6-4A78-A8F8-9DD18052DA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WattWise</c:v>
                </c:pt>
              </c:strCache>
            </c:strRef>
          </c:tx>
          <c:spPr>
            <a:solidFill>
              <a:srgbClr val="F7931E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Today's size (1.0×)</c:v>
                </c:pt>
                <c:pt idx="1">
                  <c:v>10% larger (1.1×)</c:v>
                </c:pt>
                <c:pt idx="2">
                  <c:v>20% larger (1.2×)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1.34</c:v>
                </c:pt>
                <c:pt idx="1">
                  <c:v>1.88</c:v>
                </c:pt>
                <c:pt idx="2">
                  <c:v>2.17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CB6-4A78-A8F8-9DD18052DA3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CE2D6"/>
            </a:solidFill>
          </a:ln>
        </c:spPr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1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15120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1 buyer (821 cases)</c:v>
                </c:pt>
              </c:strCache>
            </c:strRef>
          </c:tx>
          <c:spPr>
            <a:solidFill>
              <a:srgbClr val="F9B915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Less than a fixed split</c:v>
                </c:pt>
                <c:pt idx="1">
                  <c:v>Less than copying last year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98.5</c:v>
                </c:pt>
                <c:pt idx="1">
                  <c:v>77.2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247-4435-8369-B06F851C0E4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 buyers (407)</c:v>
                </c:pt>
              </c:strCache>
            </c:strRef>
          </c:tx>
          <c:spPr>
            <a:solidFill>
              <a:srgbClr val="F7931E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500" b="1">
                    <a:solidFill>
                      <a:srgbClr val="15120F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Less than a fixed split</c:v>
                </c:pt>
                <c:pt idx="1">
                  <c:v>Less than copying last year</c:v>
                </c:pt>
              </c:strCache>
            </c:strRef>
          </c:cat>
          <c:val>
            <c:numRef>
              <c:f>Sheet1!$C$2:$C$3</c:f>
              <c:numCache>
                <c:formatCode>0.0</c:formatCode>
                <c:ptCount val="2"/>
                <c:pt idx="0">
                  <c:v>99.8</c:v>
                </c:pt>
                <c:pt idx="1">
                  <c:v>83.3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3247-4435-8369-B06F851C0E4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CE2D6"/>
            </a:solidFill>
          </a:ln>
        </c:spPr>
        <c:txPr>
          <a:bodyPr/>
          <a:lstStyle/>
          <a:p>
            <a:pPr>
              <a:defRPr sz="13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1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3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300">
          <a:solidFill>
            <a:srgbClr val="15120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63390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 of the corrected WattWise pitch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of the corrected WattWise pitch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41489192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 of the corrected WattWise pitch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 of the corrected WattWise pitch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hyperlink" Target="https://wattwise-promax.netlify.app/tests.html#how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hyperlink" Target="https://wattwise-promax.netlify.app/admin.html" TargetMode="External"/><Relationship Id="rId6" Type="http://schemas.openxmlformats.org/officeDocument/2006/relationships/hyperlink" Target="https://wattwise-promax.netlify.app/tests.html" TargetMode="External"/><Relationship Id="rId7" Type="http://schemas.openxmlformats.org/officeDocument/2006/relationships/hyperlink" Target="https://github.com/ttc-099/Wattwise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3.xml"/><Relationship Id="rId4" Type="http://schemas.openxmlformats.org/officeDocument/2006/relationships/hyperlink" Target="https://wattwise-promax.netlify.app/tests.html#a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4.xml"/><Relationship Id="rId4" Type="http://schemas.openxmlformats.org/officeDocument/2006/relationships/hyperlink" Target="https://wattwise-promax.netlify.app/tests.html#b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5.xml"/><Relationship Id="rId4" Type="http://schemas.openxmlformats.org/officeDocument/2006/relationships/hyperlink" Target="https://wattwise-promax.netlify.app/tests.html#c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chart" Target="../charts/chart6.xml"/><Relationship Id="rId4" Type="http://schemas.openxmlformats.org/officeDocument/2006/relationships/hyperlink" Target="https://wattwise-promax.netlify.app/tests.html#d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wattwise-promax.netlify.app/tests.html#referenc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twork" descr="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62454" y="2070103"/>
            <a:ext cx="3421900" cy="2539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99"/>
              </a:lnSpc>
            </a:pPr>
            <a:r>
              <a:rPr sz="1600" b="1">
                <a:solidFill>
                  <a:srgbClr val="000000"/>
                </a:solidFill>
                <a:latin typeface="Calibri"/>
              </a:rPr>
              <a:t>TEAM PROMAX’s PITCH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2454" y="2627464"/>
            <a:ext cx="6177341" cy="634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999"/>
              </a:lnSpc>
            </a:pPr>
            <a:r>
              <a:rPr sz="4000" b="1">
                <a:solidFill>
                  <a:srgbClr val="000000"/>
                </a:solidFill>
                <a:latin typeface="Arial Black"/>
              </a:rPr>
              <a:t>WATTWISE: SOLAR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62454" y="2589365"/>
            <a:ext cx="5365018" cy="14223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5599"/>
              </a:lnSpc>
            </a:pPr>
            <a:r>
              <a:rPr sz="4000" b="1">
                <a:solidFill>
                  <a:srgbClr val="000000"/>
                </a:solidFill>
                <a:latin typeface="Arial Black"/>
              </a:rPr>
              <a:t>WATTWISE</a:t>
            </a:r>
            <a:br/>
            <a:r>
              <a:rPr sz="4000" b="1">
                <a:solidFill>
                  <a:srgbClr val="000000"/>
                </a:solidFill>
                <a:latin typeface="Arial Black"/>
              </a:rPr>
              <a:t>SPLITS THAT 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62454" y="4082922"/>
            <a:ext cx="6684781" cy="243357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16"/>
              </a:lnSpc>
            </a:pPr>
            <a:r>
              <a:rPr sz="1550" b="1" dirty="0">
                <a:solidFill>
                  <a:srgbClr val="000000"/>
                </a:solidFill>
                <a:latin typeface="Arial"/>
              </a:rPr>
              <a:t>A FORECAST-LED LOCAL SOLAR ENERGY ALLOCATION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87854" y="4719225"/>
            <a:ext cx="6033771" cy="2328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33"/>
              </a:lnSpc>
            </a:pPr>
            <a:r>
              <a:rPr sz="1450" b="0">
                <a:solidFill>
                  <a:srgbClr val="FFFFFF"/>
                </a:solidFill>
                <a:latin typeface="Calibri"/>
              </a:rPr>
              <a:t>    SIME DARBY HACKATHON: TOWNSHIP OF TOMORROW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twork" descr="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661175" y="903770"/>
            <a:ext cx="5136424" cy="634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999"/>
              </a:lnSpc>
            </a:pPr>
            <a:r>
              <a:rPr sz="4000" b="1">
                <a:solidFill>
                  <a:srgbClr val="000000"/>
                </a:solidFill>
                <a:latin typeface="Arial Black"/>
              </a:rPr>
              <a:t>TEAM PROMAX: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1175" y="1744022"/>
            <a:ext cx="4216160" cy="5676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469"/>
              </a:lnSpc>
            </a:pPr>
            <a:r>
              <a:rPr sz="3600" b="1">
                <a:solidFill>
                  <a:srgbClr val="AD5330"/>
                </a:solidFill>
                <a:latin typeface="Arial Black"/>
              </a:rPr>
              <a:t>01 TEAM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1175" y="2268745"/>
            <a:ext cx="5625483" cy="106677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2099"/>
              </a:lnSpc>
            </a:pPr>
            <a:r>
              <a:rPr sz="1550" b="1">
                <a:solidFill>
                  <a:srgbClr val="000000"/>
                </a:solidFill>
                <a:latin typeface="Arial"/>
              </a:rPr>
              <a:t>SHERI ANNE CHONG TING TING · LEAD, FULL-STACK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UNIVERSITY OF SOUTHAMPTON MALAYSIA (UOSM)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satc1g24@soton.ac.uk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019-807 2503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1175" y="3934589"/>
            <a:ext cx="3990913" cy="567656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469"/>
              </a:lnSpc>
            </a:pPr>
            <a:r>
              <a:rPr sz="3600" b="1">
                <a:solidFill>
                  <a:srgbClr val="AD5330"/>
                </a:solidFill>
                <a:latin typeface="Arial Black"/>
              </a:rPr>
              <a:t>02 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61175" y="4523998"/>
            <a:ext cx="4868616" cy="444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49"/>
              </a:lnSpc>
            </a:pPr>
            <a:r>
              <a:rPr sz="1550" b="1">
                <a:solidFill>
                  <a:srgbClr val="000000"/>
                </a:solidFill>
                <a:latin typeface="Arial"/>
              </a:rPr>
              <a:t>ONG HUI MIN · UI/UX DEVELOPER, RESEARCH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UOSM ·</a:t>
            </a:r>
            <a:r>
              <a:rPr sz="1550" b="1">
                <a:solidFill>
                  <a:srgbClr val="000000"/>
                </a:solidFill>
                <a:latin typeface="Arial"/>
              </a:rPr>
              <a:t> </a:t>
            </a:r>
            <a:r>
              <a:rPr sz="1550" b="0">
                <a:solidFill>
                  <a:srgbClr val="000000"/>
                </a:solidFill>
                <a:latin typeface="Arial"/>
              </a:rPr>
              <a:t>hmo1e25@soton.ac.uk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1175" y="5190731"/>
            <a:ext cx="5067130" cy="444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49"/>
              </a:lnSpc>
            </a:pPr>
            <a:r>
              <a:rPr sz="1550" b="1">
                <a:solidFill>
                  <a:srgbClr val="000000"/>
                </a:solidFill>
                <a:latin typeface="Arial"/>
              </a:rPr>
              <a:t>JESS LAU XI EN · UI/UX DESIGNER, DEVELOPER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UOSM · xel1n24@soton.ac.uk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1175" y="5857465"/>
            <a:ext cx="3870264" cy="444488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49"/>
              </a:lnSpc>
            </a:pPr>
            <a:r>
              <a:rPr sz="1550" b="1">
                <a:solidFill>
                  <a:srgbClr val="000000"/>
                </a:solidFill>
                <a:latin typeface="Arial"/>
              </a:rPr>
              <a:t>LIM POH SHIU · DATA ANALYST, QA</a:t>
            </a:r>
            <a:br/>
            <a:r>
              <a:rPr sz="1550" b="0">
                <a:solidFill>
                  <a:srgbClr val="000000"/>
                </a:solidFill>
                <a:latin typeface="Arial"/>
              </a:rPr>
              <a:t>UOSM ·psl1e25@soton.ac.uk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1) PROBLEM STATEMENT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dirty="0">
                <a:solidFill>
                  <a:srgbClr val="5E5048"/>
                </a:solidFill>
                <a:latin typeface="Calibri"/>
              </a:rPr>
              <a:t>CREAM makes SDP </a:t>
            </a:r>
            <a:r>
              <a:rPr lang="en-MY" dirty="0">
                <a:solidFill>
                  <a:srgbClr val="5E5048"/>
                </a:solidFill>
                <a:latin typeface="Calibri"/>
              </a:rPr>
              <a:t>pre-allocate</a:t>
            </a:r>
            <a:r>
              <a:rPr sz="1800" b="0" dirty="0">
                <a:solidFill>
                  <a:srgbClr val="5E5048"/>
                </a:solidFill>
                <a:latin typeface="Calibri"/>
              </a:rPr>
              <a:t> each buyer's share of solar four months ahead</a:t>
            </a:r>
            <a:r>
              <a:rPr lang="en-MY" sz="1800" b="0" dirty="0">
                <a:solidFill>
                  <a:srgbClr val="5E5048"/>
                </a:solidFill>
                <a:latin typeface="Calibri"/>
              </a:rPr>
              <a:t>.</a:t>
            </a:r>
            <a:endParaRPr sz="1800" b="0" dirty="0">
              <a:solidFill>
                <a:srgbClr val="5E5048"/>
              </a:solidFill>
              <a:latin typeface="Calibr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234440" y="1965960"/>
            <a:ext cx="3246120" cy="361188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08760" y="219456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6600" b="0">
                <a:solidFill>
                  <a:srgbClr val="AD5330"/>
                </a:solidFill>
                <a:latin typeface="Arial Black"/>
              </a:rPr>
              <a:t>120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2461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A6B3D"/>
                </a:solidFill>
                <a:latin typeface="Calibri"/>
              </a:rPr>
              <a:t>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794760"/>
            <a:ext cx="274320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15120F"/>
                </a:solidFill>
                <a:latin typeface="Calibri"/>
              </a:rPr>
              <a:t>Each buyer's share is filed in writing before the month starts, before its real demand is known</a:t>
            </a:r>
            <a:r>
              <a:rPr lang="en-MY" sz="2000" b="0" dirty="0">
                <a:solidFill>
                  <a:srgbClr val="15120F"/>
                </a:solidFill>
                <a:latin typeface="Calibri"/>
              </a:rPr>
              <a:t>.</a:t>
            </a:r>
            <a:endParaRPr sz="2000" b="0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54880" y="1965960"/>
            <a:ext cx="3246120" cy="361188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219456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6600" b="0">
                <a:solidFill>
                  <a:srgbClr val="AD5330"/>
                </a:solidFill>
                <a:latin typeface="Arial Black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461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A6B3D"/>
                </a:solidFill>
                <a:latin typeface="Calibri"/>
              </a:rPr>
              <a:t>sen/kWh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794760"/>
            <a:ext cx="27432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dirty="0">
                <a:solidFill>
                  <a:srgbClr val="15120F"/>
                </a:solidFill>
                <a:latin typeface="Calibri"/>
              </a:rPr>
              <a:t>Access charge still paid</a:t>
            </a:r>
            <a:r>
              <a:rPr lang="en-MY" sz="2000" b="0" dirty="0">
                <a:solidFill>
                  <a:srgbClr val="15120F"/>
                </a:solidFill>
                <a:latin typeface="Calibri"/>
              </a:rPr>
              <a:t> by SDP to release</a:t>
            </a:r>
            <a:r>
              <a:rPr lang="en-MY" sz="2000" dirty="0">
                <a:solidFill>
                  <a:srgbClr val="15120F"/>
                </a:solidFill>
                <a:latin typeface="Calibri"/>
              </a:rPr>
              <a:t> </a:t>
            </a:r>
            <a:r>
              <a:rPr sz="2000" b="0" dirty="0">
                <a:solidFill>
                  <a:srgbClr val="15120F"/>
                </a:solidFill>
                <a:latin typeface="Calibri"/>
              </a:rPr>
              <a:t>solar a buyer </a:t>
            </a:r>
            <a:r>
              <a:rPr lang="en-MY" sz="2000" dirty="0">
                <a:solidFill>
                  <a:srgbClr val="15120F"/>
                </a:solidFill>
                <a:latin typeface="Calibri"/>
              </a:rPr>
              <a:t>didn’t </a:t>
            </a:r>
            <a:r>
              <a:rPr sz="2000" b="0" dirty="0">
                <a:solidFill>
                  <a:srgbClr val="15120F"/>
                </a:solidFill>
                <a:latin typeface="Calibri"/>
              </a:rPr>
              <a:t>use</a:t>
            </a:r>
            <a:r>
              <a:rPr lang="en-MY" sz="2000" b="0" dirty="0">
                <a:solidFill>
                  <a:srgbClr val="15120F"/>
                </a:solidFill>
                <a:latin typeface="Calibri"/>
              </a:rPr>
              <a:t>. </a:t>
            </a:r>
            <a:endParaRPr sz="2000" b="0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75320" y="1965960"/>
            <a:ext cx="3246120" cy="361188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49640" y="2194560"/>
            <a:ext cx="2743200" cy="10058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6600" b="0" dirty="0">
                <a:solidFill>
                  <a:srgbClr val="AD5330"/>
                </a:solidFill>
                <a:latin typeface="Arial Black"/>
              </a:rPr>
              <a:t>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2461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EA6B3D"/>
                </a:solidFill>
                <a:latin typeface="Calibri"/>
              </a:rPr>
              <a:t>of solar given 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794760"/>
            <a:ext cx="274320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sz="2000" dirty="0"/>
              <a:t>Median waste of 6% under a fixed yearly split. One buyer pair in ten wastes 16% or more.</a:t>
            </a:r>
            <a:endParaRPr sz="2000" b="0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7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CREAM Guidelines 9.9, 9.10(e), 13.2 (Energy Commission, 2025; Skrine, 2025). Replay on real meters, 407 buyer pairs (Miller et al., 2020; WattWise, 2026).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2) TARGET USER(S)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Who has the problem today, and what WattWise changes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1828800"/>
            <a:ext cx="32461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508760" y="2057400"/>
            <a:ext cx="640080" cy="640080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8346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AD5330"/>
                </a:solidFill>
                <a:latin typeface="Calibri"/>
              </a:rPr>
              <a:t>CREAM aggregators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322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767676"/>
                </a:solidFill>
                <a:latin typeface="Calibri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596640"/>
            <a:ext cx="2743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>
                <a:solidFill>
                  <a:srgbClr val="15120F"/>
                </a:solidFill>
                <a:latin typeface="Calibri"/>
              </a:rPr>
              <a:t>SDP files every buyer's share 120 days ahead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4846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EA6B3D"/>
                </a:solidFill>
                <a:latin typeface="Calibri"/>
              </a:rPr>
              <a:t>WITH WATTWISE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5120640"/>
            <a:ext cx="2743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15120F"/>
                </a:solidFill>
                <a:latin typeface="Calibri"/>
              </a:rPr>
              <a:t>Each split is sized to the buyer's predicted use</a:t>
            </a:r>
            <a:r>
              <a:rPr lang="en-MY" b="1" dirty="0">
                <a:solidFill>
                  <a:srgbClr val="15120F"/>
                </a:solidFill>
                <a:latin typeface="Calibri"/>
              </a:rPr>
              <a:t>.</a:t>
            </a:r>
            <a:endParaRPr b="1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754880" y="1828800"/>
            <a:ext cx="32461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0" y="2057400"/>
            <a:ext cx="640080" cy="640080"/>
          </a:xfrm>
          <a:prstGeom prst="ellipse">
            <a:avLst/>
          </a:prstGeom>
          <a:solidFill>
            <a:srgbClr val="EA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8346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AD5330"/>
                </a:solidFill>
                <a:latin typeface="Calibri"/>
              </a:rPr>
              <a:t>Elmina homeowners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3070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767676"/>
                </a:solidFill>
                <a:latin typeface="Calibri"/>
              </a:rPr>
              <a:t>TODAY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581400"/>
            <a:ext cx="27432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dirty="0"/>
              <a:t>Fixed splits waste solar, so SDP has limited room to add more roofs.</a:t>
            </a:r>
            <a:endParaRPr b="0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0" y="47244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EA6B3D"/>
                </a:solidFill>
                <a:latin typeface="Calibri"/>
              </a:rPr>
              <a:t>WITH </a:t>
            </a:r>
            <a:r>
              <a:rPr b="1" dirty="0" err="1">
                <a:solidFill>
                  <a:srgbClr val="EA6B3D"/>
                </a:solidFill>
                <a:latin typeface="Calibri"/>
              </a:rPr>
              <a:t>WATTWISE</a:t>
            </a:r>
            <a:endParaRPr b="1" dirty="0">
              <a:solidFill>
                <a:srgbClr val="EA6B3D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0" y="4998720"/>
            <a:ext cx="27432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MY" dirty="0"/>
              <a:t>Up to 20% more homes can lease their roofs at no extra waste (modelled).</a:t>
            </a:r>
            <a:endParaRPr b="1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275320" y="1828800"/>
            <a:ext cx="3246120" cy="4160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49640" y="2057400"/>
            <a:ext cx="640080" cy="640080"/>
          </a:xfrm>
          <a:prstGeom prst="ellipse">
            <a:avLst/>
          </a:prstGeom>
          <a:solidFill>
            <a:srgbClr val="F9B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5120F"/>
                </a:solidFill>
                <a:latin typeface="Arial Black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2834640"/>
            <a:ext cx="2743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AD5330"/>
                </a:solidFill>
                <a:latin typeface="Calibri"/>
              </a:rPr>
              <a:t>CREAM buyers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3322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767676"/>
                </a:solidFill>
                <a:latin typeface="Calibri"/>
              </a:rPr>
              <a:t>TODAY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596640"/>
            <a:ext cx="2743200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0" dirty="0">
                <a:solidFill>
                  <a:srgbClr val="15120F"/>
                </a:solidFill>
                <a:latin typeface="Calibri"/>
              </a:rPr>
              <a:t>Innovation Park today; a school, petrol stations and commercial hubs have shown interest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48463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>
                <a:solidFill>
                  <a:srgbClr val="EA6B3D"/>
                </a:solidFill>
                <a:latin typeface="Calibri"/>
              </a:rPr>
              <a:t>WITH WATTWISE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5120640"/>
            <a:ext cx="27432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dirty="0">
                <a:solidFill>
                  <a:srgbClr val="15120F"/>
                </a:solidFill>
                <a:latin typeface="Calibri"/>
              </a:rPr>
              <a:t>Each share comes from the buyer's own meters</a:t>
            </a:r>
            <a:r>
              <a:rPr lang="en-MY" b="1" dirty="0">
                <a:solidFill>
                  <a:srgbClr val="15120F"/>
                </a:solidFill>
                <a:latin typeface="Calibri"/>
              </a:rPr>
              <a:t>.</a:t>
            </a:r>
            <a:endParaRPr b="1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26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Buyer interest: The Malaysian Reserve (2025). Waste figures: median of 407 real buyer pairs (WattWise, 2026).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 dirty="0">
                <a:solidFill>
                  <a:srgbClr val="15120F"/>
                </a:solidFill>
                <a:latin typeface="Arial Black"/>
              </a:rPr>
              <a:t>3) OUR SOLUTION: </a:t>
            </a:r>
            <a:r>
              <a:rPr sz="3400" b="0" dirty="0" err="1">
                <a:solidFill>
                  <a:srgbClr val="15120F"/>
                </a:solidFill>
                <a:latin typeface="Arial Black"/>
              </a:rPr>
              <a:t>WATTWISE</a:t>
            </a:r>
            <a:endParaRPr sz="3400" b="0" dirty="0">
              <a:solidFill>
                <a:srgbClr val="15120F"/>
              </a:solidFill>
              <a:latin typeface="Arial Black"/>
            </a:endParaRP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0" dirty="0">
                <a:solidFill>
                  <a:srgbClr val="5E5048"/>
                </a:solidFill>
                <a:latin typeface="Calibri"/>
              </a:rPr>
              <a:t>A software layer that replaces a fixed yearly guess with a monthly plan</a:t>
            </a:r>
            <a:r>
              <a:rPr lang="en-MY" sz="2000" b="0" dirty="0">
                <a:solidFill>
                  <a:srgbClr val="5E5048"/>
                </a:solidFill>
                <a:latin typeface="Calibri"/>
              </a:rPr>
              <a:t>.</a:t>
            </a:r>
            <a:endParaRPr sz="2000" b="0" dirty="0">
              <a:solidFill>
                <a:srgbClr val="5E5048"/>
              </a:solidFill>
              <a:latin typeface="Calibri"/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1005840" y="2103120"/>
            <a:ext cx="2606040" cy="914400"/>
          </a:xfrm>
          <a:prstGeom prst="homePlate">
            <a:avLst/>
          </a:prstGeom>
          <a:solidFill>
            <a:srgbClr val="F9B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 dirty="0">
                <a:solidFill>
                  <a:srgbClr val="15120F"/>
                </a:solidFill>
                <a:latin typeface="Calibri"/>
              </a:rPr>
              <a:t>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345" y="3215640"/>
            <a:ext cx="22860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dirty="0">
                <a:solidFill>
                  <a:srgbClr val="15120F"/>
                </a:solidFill>
                <a:latin typeface="Calibri"/>
              </a:rPr>
              <a:t>Each buyer's use, from its own meter history</a:t>
            </a:r>
          </a:p>
        </p:txBody>
      </p:sp>
      <p:sp>
        <p:nvSpPr>
          <p:cNvPr id="7" name="Chevron 6"/>
          <p:cNvSpPr/>
          <p:nvPr/>
        </p:nvSpPr>
        <p:spPr>
          <a:xfrm>
            <a:off x="3703320" y="2103120"/>
            <a:ext cx="2606040" cy="914400"/>
          </a:xfrm>
          <a:prstGeom prst="chevron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ALLOCATE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3161121"/>
            <a:ext cx="2697480" cy="14619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 dirty="0">
                <a:solidFill>
                  <a:srgbClr val="15120F"/>
                </a:solidFill>
                <a:latin typeface="Calibri"/>
              </a:rPr>
              <a:t>Share sized to the estimate; a slice held back for</a:t>
            </a:r>
            <a:r>
              <a:rPr lang="en-MY" sz="1900" b="0" dirty="0">
                <a:solidFill>
                  <a:srgbClr val="15120F"/>
                </a:solidFill>
                <a:latin typeface="Calibri"/>
              </a:rPr>
              <a:t> a fallback buyer, NEDA </a:t>
            </a:r>
          </a:p>
          <a:p>
            <a:pPr algn="ctr"/>
            <a:r>
              <a:rPr lang="en-MY" sz="1900" b="0" dirty="0">
                <a:solidFill>
                  <a:schemeClr val="bg1">
                    <a:lumMod val="65000"/>
                  </a:schemeClr>
                </a:solidFill>
                <a:latin typeface="Calibri"/>
              </a:rPr>
              <a:t>(New Enhanced Dispatch Arrangement)</a:t>
            </a:r>
            <a:endParaRPr sz="1900" b="0" dirty="0">
              <a:solidFill>
                <a:schemeClr val="bg1">
                  <a:lumMod val="65000"/>
                </a:schemeClr>
              </a:solidFill>
              <a:latin typeface="Calibri"/>
            </a:endParaRPr>
          </a:p>
        </p:txBody>
      </p:sp>
      <p:sp>
        <p:nvSpPr>
          <p:cNvPr id="9" name="Chevron 8"/>
          <p:cNvSpPr/>
          <p:nvPr/>
        </p:nvSpPr>
        <p:spPr>
          <a:xfrm>
            <a:off x="6400800" y="2103120"/>
            <a:ext cx="2606040" cy="914400"/>
          </a:xfrm>
          <a:prstGeom prst="chevron">
            <a:avLst/>
          </a:prstGeom>
          <a:solidFill>
            <a:srgbClr val="EA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246120"/>
            <a:ext cx="22860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15120F"/>
                </a:solidFill>
                <a:latin typeface="Calibri"/>
              </a:rPr>
              <a:t>Stamped with its 120-day notice date</a:t>
            </a:r>
          </a:p>
        </p:txBody>
      </p:sp>
      <p:sp>
        <p:nvSpPr>
          <p:cNvPr id="11" name="Chevron 10"/>
          <p:cNvSpPr/>
          <p:nvPr/>
        </p:nvSpPr>
        <p:spPr>
          <a:xfrm>
            <a:off x="9098280" y="2103120"/>
            <a:ext cx="2606040" cy="914400"/>
          </a:xfrm>
          <a:prstGeom prst="chevron">
            <a:avLst/>
          </a:prstGeom>
          <a:solidFill>
            <a:srgbClr val="AD5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3246120"/>
            <a:ext cx="2286000" cy="584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0">
                <a:solidFill>
                  <a:srgbClr val="15120F"/>
                </a:solidFill>
                <a:latin typeface="Calibri"/>
              </a:rPr>
              <a:t>Each month checked against real use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4716378"/>
            <a:ext cx="9235440" cy="137160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37360" y="4853538"/>
            <a:ext cx="86868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dirty="0">
                <a:solidFill>
                  <a:srgbClr val="EA6B3D"/>
                </a:solidFill>
                <a:latin typeface="Calibri"/>
              </a:rPr>
              <a:t>THE RULE ANYONE CAN CHECK BY HAND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265018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dirty="0">
                <a:solidFill>
                  <a:srgbClr val="AD5330"/>
                </a:solidFill>
                <a:latin typeface="Calibri"/>
              </a:rPr>
              <a:t>estimate = same month last year × (1 + trend)</a:t>
            </a:r>
          </a:p>
        </p:txBody>
      </p:sp>
      <p:sp>
        <p:nvSpPr>
          <p:cNvPr id="16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767676"/>
                </a:solidFill>
                <a:latin typeface="Calibri"/>
              </a:rPr>
              <a:t>No weather, no machine learning. Replay and rules: 02 Scheduler Module/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replay.py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 (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WattWise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, 2026).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32004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 dirty="0">
                <a:solidFill>
                  <a:srgbClr val="15120F"/>
                </a:solidFill>
                <a:latin typeface="Arial Black"/>
              </a:rPr>
              <a:t>4) INNOVATION &amp; DIFFERENTIATION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2649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What gives WattWise a new approach?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7068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400" b="1" dirty="0">
                <a:solidFill>
                  <a:srgbClr val="5E5048"/>
                </a:solidFill>
                <a:latin typeface="Calibri"/>
              </a:rPr>
              <a:t>Makes &amp; stores solar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068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400" b="1">
                <a:solidFill>
                  <a:srgbClr val="5E5048"/>
                </a:solidFill>
                <a:latin typeface="Calibri"/>
              </a:rPr>
              <a:t>Manages one building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7068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400" b="1">
                <a:solidFill>
                  <a:srgbClr val="5E5048"/>
                </a:solidFill>
                <a:latin typeface="Calibri"/>
              </a:rPr>
              <a:t>Signs up roofs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7068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/>
            <a:r>
              <a:rPr sz="1400" b="1">
                <a:solidFill>
                  <a:srgbClr val="5E5048"/>
                </a:solidFill>
                <a:latin typeface="Calibri"/>
              </a:rPr>
              <a:t>Plans CREAM shares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19" y="2423160"/>
            <a:ext cx="10332719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E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19" y="2612395"/>
            <a:ext cx="30175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dirty="0" err="1">
                <a:solidFill>
                  <a:srgbClr val="15120F"/>
                </a:solidFill>
                <a:latin typeface="Calibri"/>
              </a:rPr>
              <a:t>Solarvest</a:t>
            </a:r>
            <a:r>
              <a:rPr sz="1700" b="1" dirty="0">
                <a:solidFill>
                  <a:srgbClr val="15120F"/>
                </a:solidFill>
                <a:latin typeface="Calibri"/>
              </a:rPr>
              <a:t> · </a:t>
            </a:r>
            <a:r>
              <a:rPr sz="1700" b="1" dirty="0" err="1">
                <a:solidFill>
                  <a:srgbClr val="15120F"/>
                </a:solidFill>
                <a:latin typeface="Calibri"/>
              </a:rPr>
              <a:t>GSPARX</a:t>
            </a:r>
            <a:r>
              <a:rPr sz="1700" b="1" dirty="0">
                <a:solidFill>
                  <a:srgbClr val="15120F"/>
                </a:solidFill>
                <a:latin typeface="Calibri"/>
              </a:rPr>
              <a:t> · Plus </a:t>
            </a:r>
            <a:r>
              <a:rPr sz="1700" b="1" dirty="0" err="1">
                <a:solidFill>
                  <a:srgbClr val="15120F"/>
                </a:solidFill>
                <a:latin typeface="Calibri"/>
              </a:rPr>
              <a:t>Xnergy</a:t>
            </a:r>
            <a:endParaRPr sz="1700" b="1" dirty="0">
              <a:solidFill>
                <a:srgbClr val="15120F"/>
              </a:solidFill>
              <a:latin typeface="Calibri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5129784" y="2514600"/>
            <a:ext cx="438912" cy="438912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573923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573923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573923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88719" y="3172968"/>
            <a:ext cx="10332719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E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19" y="3362203"/>
            <a:ext cx="30175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5120F"/>
                </a:solidFill>
                <a:latin typeface="Calibri"/>
              </a:rPr>
              <a:t>Schneider Electric · Tanand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3323731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18" name="Oval 17"/>
          <p:cNvSpPr/>
          <p:nvPr/>
        </p:nvSpPr>
        <p:spPr>
          <a:xfrm>
            <a:off x="6867144" y="3264408"/>
            <a:ext cx="438912" cy="438912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3323731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0" y="3323731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19" y="3922776"/>
            <a:ext cx="10332719" cy="6400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ECE2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19" y="4112011"/>
            <a:ext cx="30175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15120F"/>
                </a:solidFill>
                <a:latin typeface="Calibri"/>
              </a:rPr>
              <a:t>Bright Energy · GSPARX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073539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073539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25" name="Oval 24"/>
          <p:cNvSpPr/>
          <p:nvPr/>
        </p:nvSpPr>
        <p:spPr>
          <a:xfrm>
            <a:off x="8604503" y="4014215"/>
            <a:ext cx="438912" cy="438912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 Black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4073539"/>
            <a:ext cx="1737360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B7AA9C"/>
                </a:solidFill>
                <a:latin typeface="Calibri"/>
              </a:rPr>
              <a:t>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8719" y="4672583"/>
            <a:ext cx="10332719" cy="640080"/>
          </a:xfrm>
          <a:prstGeom prst="roundRect">
            <a:avLst>
              <a:gd name="adj" fmla="val 15000"/>
            </a:avLst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17319" y="4861818"/>
            <a:ext cx="30175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WATTWISE</a:t>
            </a:r>
          </a:p>
        </p:txBody>
      </p:sp>
      <p:sp>
        <p:nvSpPr>
          <p:cNvPr id="29" name="Oval 28"/>
          <p:cNvSpPr/>
          <p:nvPr/>
        </p:nvSpPr>
        <p:spPr>
          <a:xfrm>
            <a:off x="10341863" y="4764023"/>
            <a:ext cx="438912" cy="43891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800" b="1">
                <a:solidFill>
                  <a:srgbClr val="AD5330"/>
                </a:solidFill>
                <a:latin typeface="Arial Black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60" y="5556504"/>
            <a:ext cx="10332718" cy="353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300" b="1" dirty="0" err="1">
                <a:solidFill>
                  <a:srgbClr val="15120F"/>
                </a:solidFill>
                <a:latin typeface="Calibri"/>
              </a:rPr>
              <a:t>WattWise</a:t>
            </a:r>
            <a:r>
              <a:rPr sz="2300" b="1" dirty="0">
                <a:solidFill>
                  <a:srgbClr val="15120F"/>
                </a:solidFill>
                <a:latin typeface="Calibri"/>
              </a:rPr>
              <a:t> works with these players inside the CREAM ecosystem, not against them.</a:t>
            </a:r>
          </a:p>
        </p:txBody>
      </p:sp>
      <p:sp>
        <p:nvSpPr>
          <p:cNvPr id="31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767676"/>
                </a:solidFill>
                <a:latin typeface="Calibri"/>
              </a:rPr>
              <a:t>Company roles 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summarised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 from their public 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descriptio</a:t>
            </a:r>
            <a:r>
              <a:rPr lang="en-MY" sz="1100" b="0" dirty="0">
                <a:solidFill>
                  <a:srgbClr val="767676"/>
                </a:solidFill>
                <a:latin typeface="Calibri"/>
              </a:rPr>
              <a:t>n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s; not independently verified.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5) HOW IT WORKS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Theme: Planet · Smart energy efficiency</a:t>
            </a:r>
          </a:p>
        </p:txBody>
      </p:sp>
      <p:sp>
        <p:nvSpPr>
          <p:cNvPr id="5" name="Oval 4"/>
          <p:cNvSpPr/>
          <p:nvPr/>
        </p:nvSpPr>
        <p:spPr>
          <a:xfrm>
            <a:off x="1325880" y="1920240"/>
            <a:ext cx="822960" cy="822960"/>
          </a:xfrm>
          <a:prstGeom prst="ellipse">
            <a:avLst/>
          </a:prstGeom>
          <a:solidFill>
            <a:srgbClr val="F9B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15120F"/>
                </a:solidFill>
                <a:latin typeface="Arial Black"/>
              </a:rPr>
              <a:t>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31720" y="2148840"/>
            <a:ext cx="685800" cy="365760"/>
          </a:xfrm>
          <a:prstGeom prst="rightArrow">
            <a:avLst/>
          </a:prstGeom>
          <a:solidFill>
            <a:srgbClr val="F6D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AD5330"/>
                </a:solidFill>
                <a:latin typeface="Calibri"/>
              </a:rPr>
              <a:t>READ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5120F"/>
                </a:solidFill>
                <a:latin typeface="Calibri"/>
              </a:rPr>
              <a:t>3 files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31920"/>
            <a:ext cx="1920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5E5048"/>
                </a:solidFill>
                <a:latin typeface="Calibri"/>
              </a:rPr>
              <a:t>meter readings · past splits · solar output</a:t>
            </a:r>
          </a:p>
        </p:txBody>
      </p:sp>
      <p:sp>
        <p:nvSpPr>
          <p:cNvPr id="10" name="Oval 9"/>
          <p:cNvSpPr/>
          <p:nvPr/>
        </p:nvSpPr>
        <p:spPr>
          <a:xfrm>
            <a:off x="3474720" y="1920240"/>
            <a:ext cx="822960" cy="822960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480560" y="2148840"/>
            <a:ext cx="685800" cy="365760"/>
          </a:xfrm>
          <a:prstGeom prst="rightArrow">
            <a:avLst/>
          </a:prstGeom>
          <a:solidFill>
            <a:srgbClr val="F6D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26079" y="2926080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AD5330"/>
                </a:solidFill>
                <a:latin typeface="Calibri"/>
              </a:rPr>
              <a:t>ESTIMATE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3429000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5120F"/>
                </a:solidFill>
                <a:latin typeface="Calibri"/>
              </a:rPr>
              <a:t>120 days ahead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3931920"/>
            <a:ext cx="1920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5E5048"/>
                </a:solidFill>
                <a:latin typeface="Calibri"/>
              </a:rPr>
              <a:t>same month last year × trend</a:t>
            </a:r>
          </a:p>
        </p:txBody>
      </p:sp>
      <p:sp>
        <p:nvSpPr>
          <p:cNvPr id="15" name="Oval 14"/>
          <p:cNvSpPr/>
          <p:nvPr/>
        </p:nvSpPr>
        <p:spPr>
          <a:xfrm>
            <a:off x="5623560" y="1920240"/>
            <a:ext cx="822960" cy="822960"/>
          </a:xfrm>
          <a:prstGeom prst="ellipse">
            <a:avLst/>
          </a:prstGeom>
          <a:solidFill>
            <a:srgbClr val="EA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629400" y="2148840"/>
            <a:ext cx="685800" cy="365760"/>
          </a:xfrm>
          <a:prstGeom prst="rightArrow">
            <a:avLst/>
          </a:prstGeom>
          <a:solidFill>
            <a:srgbClr val="F6D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74920" y="2926080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AD5330"/>
                </a:solidFill>
                <a:latin typeface="Calibri"/>
              </a:rPr>
              <a:t>ALLOCATE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429000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5120F"/>
                </a:solidFill>
                <a:latin typeface="Calibri"/>
              </a:rPr>
              <a:t>share + hold-back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3931920"/>
            <a:ext cx="1920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5E5048"/>
                </a:solidFill>
                <a:latin typeface="Calibri"/>
              </a:rPr>
              <a:t>2% of solar held back for NEDA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0" y="1920240"/>
            <a:ext cx="822960" cy="822960"/>
          </a:xfrm>
          <a:prstGeom prst="ellipse">
            <a:avLst/>
          </a:prstGeom>
          <a:solidFill>
            <a:srgbClr val="AD5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778240" y="2148840"/>
            <a:ext cx="685800" cy="365760"/>
          </a:xfrm>
          <a:prstGeom prst="rightArrow">
            <a:avLst/>
          </a:prstGeom>
          <a:solidFill>
            <a:srgbClr val="F6D4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2926080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AD5330"/>
                </a:solidFill>
                <a:latin typeface="Calibri"/>
              </a:rPr>
              <a:t>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0" y="3429000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5120F"/>
                </a:solidFill>
                <a:latin typeface="Calibri"/>
              </a:rPr>
              <a:t>notice-stamped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3931920"/>
            <a:ext cx="1920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5E5048"/>
                </a:solidFill>
                <a:latin typeface="Calibri"/>
              </a:rPr>
              <a:t>SDP files with the Energy Commission</a:t>
            </a:r>
          </a:p>
        </p:txBody>
      </p:sp>
      <p:sp>
        <p:nvSpPr>
          <p:cNvPr id="25" name="Oval 24"/>
          <p:cNvSpPr/>
          <p:nvPr/>
        </p:nvSpPr>
        <p:spPr>
          <a:xfrm>
            <a:off x="9921240" y="1920240"/>
            <a:ext cx="822960" cy="822960"/>
          </a:xfrm>
          <a:prstGeom prst="ellipse">
            <a:avLst/>
          </a:prstGeom>
          <a:solidFill>
            <a:srgbClr val="15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2926080"/>
            <a:ext cx="19202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000" b="1">
                <a:solidFill>
                  <a:srgbClr val="AD5330"/>
                </a:solidFill>
                <a:latin typeface="Calibri"/>
              </a:rPr>
              <a:t>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429000"/>
            <a:ext cx="192024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15120F"/>
                </a:solidFill>
                <a:latin typeface="Calibri"/>
              </a:rPr>
              <a:t>after TNB bills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931920"/>
            <a:ext cx="192024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5E5048"/>
                </a:solidFill>
                <a:latin typeface="Calibri"/>
              </a:rPr>
              <a:t>suggested vs filed vs actual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194560" y="4977115"/>
            <a:ext cx="7772400" cy="1182822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0" name="TextBox 29"/>
          <p:cNvSpPr txBox="1"/>
          <p:nvPr/>
        </p:nvSpPr>
        <p:spPr>
          <a:xfrm>
            <a:off x="2377440" y="5191427"/>
            <a:ext cx="7406640" cy="7386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MY" sz="2400" dirty="0"/>
              <a:t>Result: solar given away drops from 6.05% to 1.34% (median, 407 buyer pairs).</a:t>
            </a:r>
            <a:endParaRPr sz="2400" b="0" dirty="0">
              <a:solidFill>
                <a:srgbClr val="15120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6) IMPACT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dirty="0">
                <a:solidFill>
                  <a:srgbClr val="5E5048"/>
                </a:solidFill>
                <a:latin typeface="Calibri"/>
              </a:rPr>
              <a:t>Less solar </a:t>
            </a:r>
            <a:r>
              <a:rPr lang="en-MY" sz="1800" b="0" dirty="0">
                <a:solidFill>
                  <a:srgbClr val="5E5048"/>
                </a:solidFill>
                <a:latin typeface="Calibri"/>
              </a:rPr>
              <a:t>is </a:t>
            </a:r>
            <a:r>
              <a:rPr sz="1800" b="0" dirty="0">
                <a:solidFill>
                  <a:srgbClr val="5E5048"/>
                </a:solidFill>
                <a:latin typeface="Calibri"/>
              </a:rPr>
              <a:t>thrown away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914400" y="1691640"/>
          <a:ext cx="6675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828430"/>
            <a:ext cx="66751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 dirty="0">
                <a:solidFill>
                  <a:srgbClr val="5E5048"/>
                </a:solidFill>
                <a:latin typeface="Calibri"/>
              </a:rPr>
              <a:t>Median share of the year's solar given away</a:t>
            </a:r>
            <a:r>
              <a:rPr lang="en-MY" sz="1600" dirty="0">
                <a:solidFill>
                  <a:srgbClr val="5E5048"/>
                </a:solidFill>
                <a:latin typeface="Calibri"/>
              </a:rPr>
              <a:t> from </a:t>
            </a:r>
            <a:r>
              <a:rPr sz="1600" b="0" dirty="0">
                <a:solidFill>
                  <a:srgbClr val="5E5048"/>
                </a:solidFill>
                <a:latin typeface="Calibri"/>
              </a:rPr>
              <a:t>407 real </a:t>
            </a:r>
            <a:r>
              <a:rPr lang="en-MY" sz="1600" b="0" dirty="0">
                <a:solidFill>
                  <a:srgbClr val="5E5048"/>
                </a:solidFill>
                <a:latin typeface="Calibri"/>
              </a:rPr>
              <a:t>buyer pairs</a:t>
            </a:r>
            <a:r>
              <a:rPr sz="1600" b="0" dirty="0">
                <a:solidFill>
                  <a:srgbClr val="5E5048"/>
                </a:solidFill>
                <a:latin typeface="Calibri"/>
              </a:rPr>
              <a:t> </a:t>
            </a:r>
            <a:r>
              <a:rPr lang="en-MY" sz="1600" dirty="0">
                <a:solidFill>
                  <a:srgbClr val="5E5048"/>
                </a:solidFill>
                <a:latin typeface="Calibri"/>
              </a:rPr>
              <a:t> </a:t>
            </a:r>
            <a:endParaRPr sz="1600" b="0" dirty="0">
              <a:solidFill>
                <a:srgbClr val="5E5048"/>
              </a:solidFill>
              <a:latin typeface="Calibri"/>
            </a:endParaRPr>
          </a:p>
        </p:txBody>
      </p:sp>
      <p:sp>
        <p:nvSpPr>
          <p:cNvPr id="11" name="Source"/>
          <p:cNvSpPr txBox="1"/>
          <p:nvPr/>
        </p:nvSpPr>
        <p:spPr>
          <a:xfrm>
            <a:off x="1097280" y="6355080"/>
            <a:ext cx="100584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767676"/>
                </a:solidFill>
                <a:latin typeface="Calibri"/>
              </a:rPr>
              <a:t>Real meters from 821 buildings (Miller et al., 2020) with rooftop solar at Elmina (European Commission JRC, 2022). Re-run it yourself in the testing suite.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4CE8BC-77B5-FFEE-82D2-089074B3647B}"/>
              </a:ext>
            </a:extLst>
          </p:cNvPr>
          <p:cNvSpPr txBox="1"/>
          <p:nvPr/>
        </p:nvSpPr>
        <p:spPr>
          <a:xfrm>
            <a:off x="8138160" y="146304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6000" b="0">
                <a:solidFill>
                  <a:srgbClr val="AD5330"/>
                </a:solidFill>
                <a:latin typeface="Arial Black"/>
              </a:rPr>
              <a:t>78%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7CBFE7C-E96F-182F-19A6-F1ECC153CEC1}"/>
              </a:ext>
            </a:extLst>
          </p:cNvPr>
          <p:cNvSpPr txBox="1"/>
          <p:nvPr/>
        </p:nvSpPr>
        <p:spPr>
          <a:xfrm>
            <a:off x="8138160" y="233172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E5048"/>
                </a:solidFill>
                <a:latin typeface="Calibri"/>
              </a:rPr>
              <a:t>less solar given away than a fixed split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2A71EC-D227-6249-FE65-A656880838B9}"/>
              </a:ext>
            </a:extLst>
          </p:cNvPr>
          <p:cNvSpPr txBox="1"/>
          <p:nvPr/>
        </p:nvSpPr>
        <p:spPr>
          <a:xfrm>
            <a:off x="8138160" y="301752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4000" b="0">
                <a:solidFill>
                  <a:srgbClr val="EA6B3D"/>
                </a:solidFill>
                <a:latin typeface="Arial Black"/>
              </a:rPr>
              <a:t>99.8%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F726F3-457A-A689-8C3D-6AF7E534341F}"/>
              </a:ext>
            </a:extLst>
          </p:cNvPr>
          <p:cNvSpPr txBox="1"/>
          <p:nvPr/>
        </p:nvSpPr>
        <p:spPr>
          <a:xfrm>
            <a:off x="8138160" y="388620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E5048"/>
                </a:solidFill>
                <a:latin typeface="Calibri"/>
              </a:rPr>
              <a:t>of 407 real buyer pairs: WattWise gives away less than a fixed split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2B81C7-C5C6-2423-5FA5-0A5277953C6E}"/>
              </a:ext>
            </a:extLst>
          </p:cNvPr>
          <p:cNvSpPr txBox="1"/>
          <p:nvPr/>
        </p:nvSpPr>
        <p:spPr>
          <a:xfrm>
            <a:off x="8138160" y="452628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3000" b="0">
                <a:solidFill>
                  <a:srgbClr val="AD5330"/>
                </a:solidFill>
                <a:latin typeface="Arial Black"/>
              </a:rPr>
              <a:t>RM108k–265k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783F02-469B-6DC4-04B2-C249CF9F33E8}"/>
              </a:ext>
            </a:extLst>
          </p:cNvPr>
          <p:cNvSpPr txBox="1"/>
          <p:nvPr/>
        </p:nvSpPr>
        <p:spPr>
          <a:xfrm>
            <a:off x="8138160" y="5394960"/>
            <a:ext cx="3474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dirty="0">
                <a:solidFill>
                  <a:srgbClr val="5E5048"/>
                </a:solidFill>
                <a:latin typeface="Calibri"/>
              </a:rPr>
              <a:t>a year more at 6,000 homes, with room for about 20% more roofs (modelled)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6) IMPACT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What WattWise adds to a 6,000-home scheme (modelled)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914400" y="1691640"/>
          <a:ext cx="6675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914400" y="5897880"/>
            <a:ext cx="66751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5E5048"/>
                </a:solidFill>
                <a:latin typeface="Calibri"/>
              </a:rPr>
              <a:t>Extra gross income a year vs a fixed split, by assumed CREAM price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2159318"/>
            <a:ext cx="3566160" cy="492443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3200" b="0" dirty="0" err="1">
                <a:solidFill>
                  <a:srgbClr val="AD5330"/>
                </a:solidFill>
                <a:latin typeface="Arial Black"/>
              </a:rPr>
              <a:t>RM108k</a:t>
            </a:r>
            <a:r>
              <a:rPr sz="3200" b="0" dirty="0">
                <a:solidFill>
                  <a:srgbClr val="AD5330"/>
                </a:solidFill>
                <a:latin typeface="Arial Black"/>
              </a:rPr>
              <a:t>–</a:t>
            </a:r>
            <a:r>
              <a:rPr sz="3200" b="0" dirty="0" err="1">
                <a:solidFill>
                  <a:srgbClr val="AD5330"/>
                </a:solidFill>
                <a:latin typeface="Arial Black"/>
              </a:rPr>
              <a:t>265k</a:t>
            </a:r>
            <a:endParaRPr sz="3200" b="0" dirty="0">
              <a:solidFill>
                <a:srgbClr val="AD5330"/>
              </a:solidFill>
              <a:latin typeface="Arial Black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138160" y="269748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E5048"/>
                </a:solidFill>
                <a:latin typeface="Calibri"/>
              </a:rPr>
              <a:t>a year more than a fixed yearly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361188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l"/>
            <a:r>
              <a:rPr sz="3400" b="0">
                <a:solidFill>
                  <a:srgbClr val="EA6B3D"/>
                </a:solidFill>
                <a:latin typeface="Arial Black"/>
              </a:rPr>
              <a:t>1.4%–6.6%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448056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E5048"/>
                </a:solidFill>
                <a:latin typeface="Calibri"/>
              </a:rPr>
              <a:t>of the scheme's total yearly income (RM4.0M–7.9M)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5394960"/>
            <a:ext cx="35661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5E5048"/>
                </a:solidFill>
                <a:latin typeface="Calibri"/>
              </a:rPr>
              <a:t>6,000 homes (≈41,000 MWh a year), 2 buyers assumed. Before roof-lease payments, costs and tax.</a:t>
            </a:r>
          </a:p>
        </p:txBody>
      </p:sp>
      <p:sp>
        <p:nvSpPr>
          <p:cNvPr id="12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Modelled; the CREAM price is private (assumed 20–30 sen/kWh). Scheme income is after the 9 sen grid access charge. Below 17 sen, selling to NEDA beats selling to a buyer.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7) FEASIBILITY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A working prototype, tested on real meters</a:t>
            </a:r>
          </a:p>
        </p:txBody>
      </p:sp>
      <p:pic>
        <p:nvPicPr>
          <p:cNvPr id="5" name="Prototype screenshot" descr="prototype-1-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83080"/>
            <a:ext cx="5852160" cy="3657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2960" y="1783080"/>
            <a:ext cx="5852160" cy="3657600"/>
          </a:xfrm>
          <a:prstGeom prst="roundRect">
            <a:avLst>
              <a:gd name="adj" fmla="val 1000"/>
            </a:avLst>
          </a:prstGeom>
          <a:noFill/>
          <a:ln w="15875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086600" y="1783080"/>
            <a:ext cx="4297680" cy="128016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69480" y="178308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0">
                <a:solidFill>
                  <a:srgbClr val="AD5330"/>
                </a:solidFill>
                <a:latin typeface="Arial Black"/>
              </a:rPr>
              <a:t>821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783080"/>
            <a:ext cx="2103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5120F"/>
                </a:solidFill>
                <a:latin typeface="Calibri"/>
              </a:rPr>
              <a:t>real buildings tested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3200400"/>
            <a:ext cx="4297680" cy="128016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69480" y="320040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0">
                <a:solidFill>
                  <a:srgbClr val="AD5330"/>
                </a:solidFill>
                <a:latin typeface="Arial Black"/>
              </a:rPr>
              <a:t>99.8%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200400"/>
            <a:ext cx="2103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5120F"/>
                </a:solidFill>
                <a:latin typeface="Calibri"/>
              </a:rPr>
              <a:t>of buyer pairs give away less than a fixed split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4617720"/>
            <a:ext cx="4297680" cy="128016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9480" y="4617720"/>
            <a:ext cx="182880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400" b="0">
                <a:solidFill>
                  <a:srgbClr val="AD5330"/>
                </a:solidFill>
                <a:latin typeface="Arial Black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4617720"/>
            <a:ext cx="2103120" cy="12801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0">
                <a:solidFill>
                  <a:srgbClr val="15120F"/>
                </a:solidFill>
                <a:latin typeface="Calibri"/>
              </a:rPr>
              <a:t>hardware, no grid integration</a:t>
            </a:r>
          </a:p>
        </p:txBody>
      </p:sp>
      <p:sp>
        <p:nvSpPr>
          <p:cNvPr id="16" name="Link https://wattwise-promax.netlify.app/tests.html#how">
            <a:hlinkClick r:id="rId4"/>
          </p:cNvPr>
          <p:cNvSpPr/>
          <p:nvPr/>
        </p:nvSpPr>
        <p:spPr>
          <a:xfrm>
            <a:off x="822960" y="5623560"/>
            <a:ext cx="5852160" cy="502920"/>
          </a:xfrm>
          <a:prstGeom prst="roundRect">
            <a:avLst>
              <a:gd name="adj" fmla="val 50000"/>
            </a:avLst>
          </a:prstGeom>
          <a:solidFill>
            <a:srgbClr val="15120F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Try the testing suite: re-run every number</a:t>
            </a:r>
          </a:p>
        </p:txBody>
      </p:sp>
      <p:sp>
        <p:nvSpPr>
          <p:cNvPr id="17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Operator app prototype (screenshot). Fits SDP's digital energy services strategy (Sime Darby Property, 2026a).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7) IMPLEMENTATION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How WattWise enters SDP's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441448"/>
            <a:ext cx="9418320" cy="73152"/>
          </a:xfrm>
          <a:prstGeom prst="rect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417320" y="2103120"/>
            <a:ext cx="731520" cy="731520"/>
          </a:xfrm>
          <a:prstGeom prst="ellipse">
            <a:avLst/>
          </a:prstGeom>
          <a:solidFill>
            <a:srgbClr val="F9B9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15120F"/>
                </a:solidFill>
                <a:latin typeface="Arial Black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D5330"/>
                </a:solidFill>
                <a:latin typeface="Calibri"/>
              </a:rPr>
              <a:t>Shadow 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611880"/>
            <a:ext cx="1920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15120F"/>
                </a:solidFill>
                <a:latin typeface="Calibri"/>
              </a:rPr>
              <a:t>3 months, free. SDP shares 3 files</a:t>
            </a:r>
          </a:p>
        </p:txBody>
      </p:sp>
      <p:sp>
        <p:nvSpPr>
          <p:cNvPr id="9" name="Oval 8"/>
          <p:cNvSpPr/>
          <p:nvPr/>
        </p:nvSpPr>
        <p:spPr>
          <a:xfrm>
            <a:off x="3566160" y="2103120"/>
            <a:ext cx="731520" cy="731520"/>
          </a:xfrm>
          <a:prstGeom prst="ellipse">
            <a:avLst/>
          </a:prstGeom>
          <a:solidFill>
            <a:srgbClr val="F793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Black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1089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D5330"/>
                </a:solidFill>
                <a:latin typeface="Calibri"/>
              </a:rPr>
              <a:t>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611880"/>
            <a:ext cx="1920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15120F"/>
                </a:solidFill>
                <a:latin typeface="Calibri"/>
              </a:rPr>
              <a:t>Suggested vs filed vs billed</a:t>
            </a:r>
          </a:p>
        </p:txBody>
      </p:sp>
      <p:sp>
        <p:nvSpPr>
          <p:cNvPr id="12" name="Oval 11"/>
          <p:cNvSpPr/>
          <p:nvPr/>
        </p:nvSpPr>
        <p:spPr>
          <a:xfrm>
            <a:off x="5715000" y="2103120"/>
            <a:ext cx="731520" cy="731520"/>
          </a:xfrm>
          <a:prstGeom prst="ellipse">
            <a:avLst/>
          </a:prstGeom>
          <a:solidFill>
            <a:srgbClr val="EA6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Black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66360" y="31089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D5330"/>
                </a:solidFill>
                <a:latin typeface="Calibri"/>
              </a:rPr>
              <a:t>Live at Elmina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3611880"/>
            <a:ext cx="1920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15120F"/>
                </a:solidFill>
                <a:latin typeface="Calibri"/>
              </a:rPr>
              <a:t>WattWise suggests; SDP still files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103120"/>
            <a:ext cx="731520" cy="731520"/>
          </a:xfrm>
          <a:prstGeom prst="ellipse">
            <a:avLst/>
          </a:prstGeom>
          <a:solidFill>
            <a:srgbClr val="AD5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Black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1089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D5330"/>
                </a:solidFill>
                <a:latin typeface="Calibri"/>
              </a:rPr>
              <a:t>Scale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611880"/>
            <a:ext cx="1920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15120F"/>
                </a:solidFill>
                <a:latin typeface="Calibri"/>
              </a:rPr>
              <a:t>Monthly runs for each new buyer</a:t>
            </a:r>
          </a:p>
        </p:txBody>
      </p:sp>
      <p:sp>
        <p:nvSpPr>
          <p:cNvPr id="18" name="Oval 17"/>
          <p:cNvSpPr/>
          <p:nvPr/>
        </p:nvSpPr>
        <p:spPr>
          <a:xfrm>
            <a:off x="10012680" y="2103120"/>
            <a:ext cx="731520" cy="731520"/>
          </a:xfrm>
          <a:prstGeom prst="ellipse">
            <a:avLst/>
          </a:prstGeom>
          <a:solidFill>
            <a:srgbClr val="1512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Arial Black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310896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>
                <a:solidFill>
                  <a:srgbClr val="AD5330"/>
                </a:solidFill>
                <a:latin typeface="Calibri"/>
              </a:rPr>
              <a:t>Expand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3611880"/>
            <a:ext cx="192024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>
                <a:solidFill>
                  <a:srgbClr val="15120F"/>
                </a:solidFill>
                <a:latin typeface="Calibri"/>
              </a:rPr>
              <a:t>Any approved CREAM aggregator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5897880"/>
            <a:ext cx="8138160" cy="640080"/>
          </a:xfrm>
          <a:prstGeom prst="roundRect">
            <a:avLst>
              <a:gd name="adj" fmla="val 8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194560" y="589788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>
                <a:solidFill>
                  <a:srgbClr val="15120F"/>
                </a:solidFill>
                <a:latin typeface="Calibri"/>
              </a:rPr>
              <a:t>The first shadow report is back within a day (planned).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4572000"/>
            <a:ext cx="3977639" cy="1143000"/>
          </a:xfrm>
          <a:prstGeom prst="roundRect">
            <a:avLst>
              <a:gd name="adj" fmla="val 12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000" b="1">
                <a:solidFill>
                  <a:srgbClr val="B0552F"/>
                </a:solidFill>
                <a:latin typeface="Calibri"/>
              </a:rPr>
              <a:t>Build to pilot: ~4–6 weeks</a:t>
            </a:r>
          </a:p>
          <a:p>
            <a:pPr algn="ctr"/>
            <a:r>
              <a:rPr sz="1400">
                <a:solidFill>
                  <a:srgbClr val="15120F"/>
                </a:solidFill>
                <a:latin typeface="Calibri"/>
              </a:rPr>
              <a:t>Estimate. Prototype works; left: SDP file import, notice export, security review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4572000"/>
            <a:ext cx="3977639" cy="1143000"/>
          </a:xfrm>
          <a:prstGeom prst="roundRect">
            <a:avLst>
              <a:gd name="adj" fmla="val 12000"/>
            </a:avLst>
          </a:prstGeom>
          <a:solidFill>
            <a:srgbClr val="FFF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2000" b="1">
                <a:solidFill>
                  <a:srgbClr val="B0552F"/>
                </a:solidFill>
                <a:latin typeface="Calibri"/>
              </a:rPr>
              <a:t>Upkeep: near zero</a:t>
            </a:r>
          </a:p>
          <a:p>
            <a:pPr algn="ctr"/>
            <a:r>
              <a:rPr sz="1400">
                <a:solidFill>
                  <a:srgbClr val="15120F"/>
                </a:solidFill>
                <a:latin typeface="Calibri"/>
              </a:rPr>
              <a:t>No hardware, no model to retrain; only update rates if the Energy Commission changes them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7) VISUAL CONCEPT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4300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Explore the working prototype</a:t>
            </a:r>
          </a:p>
        </p:txBody>
      </p:sp>
      <p:pic>
        <p:nvPicPr>
          <p:cNvPr id="5" name="Operator app" descr="prototype-2-alloc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737360"/>
            <a:ext cx="5029200" cy="3143250"/>
          </a:xfrm>
          <a:prstGeom prst="rect">
            <a:avLst/>
          </a:prstGeom>
        </p:spPr>
      </p:pic>
      <p:pic>
        <p:nvPicPr>
          <p:cNvPr id="6" name="Testing suite" descr="testing-5-all-schemes-medi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1737360"/>
            <a:ext cx="5029200" cy="314325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1737360"/>
            <a:ext cx="5029200" cy="3143250"/>
          </a:xfrm>
          <a:prstGeom prst="roundRect">
            <a:avLst>
              <a:gd name="adj" fmla="val 1000"/>
            </a:avLst>
          </a:prstGeom>
          <a:noFill/>
          <a:ln w="15875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355080" y="1737360"/>
            <a:ext cx="5029200" cy="3143250"/>
          </a:xfrm>
          <a:prstGeom prst="roundRect">
            <a:avLst>
              <a:gd name="adj" fmla="val 1000"/>
            </a:avLst>
          </a:prstGeom>
          <a:noFill/>
          <a:ln w="15875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5E5048"/>
                </a:solidFill>
                <a:latin typeface="Calibri"/>
              </a:rPr>
              <a:t>Operator app: deadlines, estimate, notice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50292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5E5048"/>
                </a:solidFill>
                <a:latin typeface="Calibri"/>
              </a:rPr>
              <a:t>Testing suite: every claim, re-runnable</a:t>
            </a:r>
          </a:p>
        </p:txBody>
      </p:sp>
      <p:sp>
        <p:nvSpPr>
          <p:cNvPr id="11" name="Link https://wattwise-promax.netlify.app/admin.html">
            <a:hlinkClick r:id="rId5"/>
          </p:cNvPr>
          <p:cNvSpPr/>
          <p:nvPr/>
        </p:nvSpPr>
        <p:spPr>
          <a:xfrm>
            <a:off x="822960" y="5486400"/>
            <a:ext cx="5029200" cy="640080"/>
          </a:xfrm>
          <a:prstGeom prst="roundRect">
            <a:avLst>
              <a:gd name="adj" fmla="val 50000"/>
            </a:avLst>
          </a:prstGeom>
          <a:solidFill>
            <a:srgbClr val="EA6B3D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OPEN THE LIVE DASHBOARD</a:t>
            </a:r>
          </a:p>
        </p:txBody>
      </p:sp>
      <p:sp>
        <p:nvSpPr>
          <p:cNvPr id="12" name="Link https://wattwise-promax.netlify.app/tests.html">
            <a:hlinkClick r:id="rId6"/>
          </p:cNvPr>
          <p:cNvSpPr/>
          <p:nvPr/>
        </p:nvSpPr>
        <p:spPr>
          <a:xfrm>
            <a:off x="6355080" y="5486400"/>
            <a:ext cx="502920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5120F"/>
                </a:solidFill>
                <a:latin typeface="Calibri"/>
              </a:rPr>
              <a:t>OPEN THE TESTING SUITE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26364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>
                <a:solidFill>
                  <a:srgbClr val="5E5048"/>
                </a:solidFill>
                <a:latin typeface="Calibri"/>
              </a:rPr>
              <a:t>Code and data: </a:t>
            </a:r>
            <a:r>
              <a:rPr sz="1400" b="0">
                <a:solidFill>
                  <a:srgbClr val="5E5048"/>
                </a:solidFill>
                <a:latin typeface="Calibri"/>
                <a:hlinkClick r:id="rId7"/>
              </a:rPr>
              <a:t>github.com/ttc-099/Wattwise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Artwork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  <a:ln>
            <a:solidFill>
              <a:srgbClr val="EA6B3D"/>
            </a:solidFill>
          </a:ln>
        </p:spPr>
      </p:pic>
      <p:sp>
        <p:nvSpPr>
          <p:cNvPr id="3" name="TextBox 2"/>
          <p:cNvSpPr txBox="1"/>
          <p:nvPr/>
        </p:nvSpPr>
        <p:spPr>
          <a:xfrm>
            <a:off x="2628960" y="618587"/>
            <a:ext cx="8159963" cy="63498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4999"/>
              </a:lnSpc>
            </a:pPr>
            <a:r>
              <a:rPr sz="4000" b="1" dirty="0">
                <a:solidFill>
                  <a:srgbClr val="000000"/>
                </a:solidFill>
                <a:latin typeface="Arial Black"/>
              </a:rPr>
              <a:t>8) WHY WE SHOULD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0902" y="1395933"/>
            <a:ext cx="1005741" cy="846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6666"/>
              </a:lnSpc>
            </a:pPr>
            <a:endParaRPr sz="5350" b="1" dirty="0">
              <a:solidFill>
                <a:srgbClr val="AD5330"/>
              </a:solidFill>
              <a:latin typeface="Arial Black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60988" y="2019250"/>
            <a:ext cx="2885000" cy="2198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1"/>
              </a:lnSpc>
            </a:pPr>
            <a:endParaRPr sz="1400" b="0" dirty="0">
              <a:solidFill>
                <a:srgbClr val="E97142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60988" y="4407940"/>
            <a:ext cx="3060165" cy="21986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1"/>
              </a:lnSpc>
            </a:pPr>
            <a:endParaRPr sz="1400" b="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560988" y="4628041"/>
            <a:ext cx="2750334" cy="21986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731"/>
              </a:lnSpc>
            </a:pPr>
            <a:endParaRPr sz="1400" b="0" dirty="0">
              <a:solidFill>
                <a:srgbClr val="E97142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twork" descr="s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62454" y="2344264"/>
            <a:ext cx="2601817" cy="25391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999"/>
              </a:lnSpc>
            </a:pPr>
            <a:r>
              <a:rPr sz="1600" b="1">
                <a:solidFill>
                  <a:srgbClr val="000000"/>
                </a:solidFill>
                <a:latin typeface="Calibri"/>
              </a:rPr>
              <a:t>FROM TEAM PROMAX,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62454" y="2878791"/>
            <a:ext cx="7458906" cy="1227503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9665"/>
              </a:lnSpc>
            </a:pPr>
            <a:r>
              <a:rPr sz="7750" b="1">
                <a:solidFill>
                  <a:srgbClr val="000000"/>
                </a:solidFill>
                <a:latin typeface="Arial Black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13352" y="3841064"/>
            <a:ext cx="6493028" cy="751344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5916"/>
              </a:lnSpc>
            </a:pPr>
            <a:r>
              <a:rPr sz="4750" b="1">
                <a:solidFill>
                  <a:srgbClr val="000000"/>
                </a:solidFill>
                <a:latin typeface="Arial Black"/>
              </a:rPr>
              <a:t>FOR YOUR TIME!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558" y="4762816"/>
            <a:ext cx="2500529" cy="23280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ts val="1833"/>
              </a:lnSpc>
            </a:pPr>
            <a:r>
              <a:rPr sz="1450" b="0">
                <a:solidFill>
                  <a:srgbClr val="FFFFFF"/>
                </a:solidFill>
                <a:latin typeface="Calibri"/>
              </a:rPr>
              <a:t>Completed: 23 Oct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15120F"/>
                </a:solidFill>
                <a:latin typeface="Arial Black"/>
              </a:rPr>
              <a:t>APPENDIX A: DOES IT REALLY REDUCE SOLAR GIVEAWAY?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88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Median share of the year's solar given away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097280" y="1645920"/>
          <a:ext cx="9966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88720" y="580644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5120F"/>
                </a:solidFill>
                <a:latin typeface="Calibri"/>
              </a:rPr>
              <a:t>Fixed split 6.05% → WattWise 1.34% for buyer pairs.</a:t>
            </a:r>
          </a:p>
        </p:txBody>
      </p:sp>
      <p:sp>
        <p:nvSpPr>
          <p:cNvPr id="7" name="Link https://wattwise-promax.netlify.app/tests.html#a">
            <a:hlinkClick r:id="rId4"/>
          </p:cNvPr>
          <p:cNvSpPr/>
          <p:nvPr/>
        </p:nvSpPr>
        <p:spPr>
          <a:xfrm>
            <a:off x="9052560" y="580644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7931E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Test it yourself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 dirty="0">
                <a:solidFill>
                  <a:srgbClr val="767676"/>
                </a:solidFill>
                <a:latin typeface="Calibri"/>
              </a:rPr>
              <a:t>Real meters, 821 buildings (Miller et al., 2020); rooftop solar at Elmina (European Commission 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JRC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, 2022); </a:t>
            </a:r>
            <a:r>
              <a:rPr sz="1100" b="0" dirty="0" err="1">
                <a:solidFill>
                  <a:srgbClr val="767676"/>
                </a:solidFill>
                <a:latin typeface="Calibri"/>
              </a:rPr>
              <a:t>WattWise</a:t>
            </a:r>
            <a:r>
              <a:rPr sz="1100" b="0" dirty="0">
                <a:solidFill>
                  <a:srgbClr val="767676"/>
                </a:solidFill>
                <a:latin typeface="Calibri"/>
              </a:rPr>
              <a:t> (2026).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370106"/>
            <a:ext cx="7955279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dirty="0">
                <a:solidFill>
                  <a:srgbClr val="15120F"/>
                </a:solidFill>
                <a:latin typeface="Arial Black"/>
              </a:rPr>
              <a:t>APPENDIX B: </a:t>
            </a:r>
            <a:r>
              <a:rPr lang="en-MY" sz="2200" dirty="0">
                <a:solidFill>
                  <a:srgbClr val="15120F"/>
                </a:solidFill>
                <a:latin typeface="Arial Black"/>
              </a:rPr>
              <a:t>HOW MUCH INCOME DOES IT ADD FOR SDP?</a:t>
            </a:r>
            <a:endParaRPr sz="2200" b="0" dirty="0">
              <a:solidFill>
                <a:srgbClr val="15120F"/>
              </a:solidFill>
              <a:latin typeface="Arial Black"/>
            </a:endParaRPr>
          </a:p>
        </p:txBody>
      </p:sp>
      <p:sp>
        <p:nvSpPr>
          <p:cNvPr id="4" name="Subtitle"/>
          <p:cNvSpPr txBox="1"/>
          <p:nvPr/>
        </p:nvSpPr>
        <p:spPr>
          <a:xfrm>
            <a:off x="1828800" y="1188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Extra gross scheme income a year, by assumed CREAM price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097280" y="1645920"/>
          <a:ext cx="9966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88720" y="580644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5120F"/>
                </a:solidFill>
                <a:latin typeface="Calibri"/>
              </a:rPr>
              <a:t>Modest and price-dependent; roof-lease terms are SDP's private deal.</a:t>
            </a:r>
          </a:p>
        </p:txBody>
      </p:sp>
      <p:sp>
        <p:nvSpPr>
          <p:cNvPr id="7" name="Link https://wattwise-promax.netlify.app/tests.html#b">
            <a:hlinkClick r:id="rId4"/>
          </p:cNvPr>
          <p:cNvSpPr/>
          <p:nvPr/>
        </p:nvSpPr>
        <p:spPr>
          <a:xfrm>
            <a:off x="9052560" y="580644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7931E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Test it yourself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Modelled, 2 buyers assumed. Before roof-lease payments, costs and tax. At 15 sen the gain would be larger, but 15 sen is below the 17 sen NEDA break-even.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>
                <a:solidFill>
                  <a:srgbClr val="15120F"/>
                </a:solidFill>
                <a:latin typeface="Arial Black"/>
              </a:rPr>
              <a:t>APPENDIX C: WILL THERE REALLY BE SPACE FOR 20% MORE CREAM CONTRIBUTORS?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188720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Solar given away when the solar pool is built larger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097280" y="1645920"/>
          <a:ext cx="9966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88720" y="580644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5120F"/>
                </a:solidFill>
                <a:latin typeface="Calibri"/>
              </a:rPr>
              <a:t>Still below today's fixed split, but ~76% of the extra solar sells via NEDA at 8 sen.</a:t>
            </a:r>
          </a:p>
        </p:txBody>
      </p:sp>
      <p:sp>
        <p:nvSpPr>
          <p:cNvPr id="7" name="Link https://wattwise-promax.netlify.app/tests.html#c">
            <a:hlinkClick r:id="rId4"/>
          </p:cNvPr>
          <p:cNvSpPr/>
          <p:nvPr/>
        </p:nvSpPr>
        <p:spPr>
          <a:xfrm>
            <a:off x="9052560" y="580644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7931E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Test it yourself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Feeder limits (2 MWp each), roof availability and lease take-up are not modelled (WattWise, 2026).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370572"/>
            <a:ext cx="7955279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0" dirty="0">
                <a:solidFill>
                  <a:srgbClr val="15120F"/>
                </a:solidFill>
                <a:latin typeface="Arial Black"/>
              </a:rPr>
              <a:t>APPENDIX D: DYNAMIC SPLITTING WORKS BETTER THAN FIXED ONES?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828800" y="1284972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>
                <a:solidFill>
                  <a:srgbClr val="5E5048"/>
                </a:solidFill>
                <a:latin typeface="Calibri"/>
              </a:rPr>
              <a:t>Share of cases where WattWise gives away less</a:t>
            </a:r>
          </a:p>
        </p:txBody>
      </p:sp>
      <p:graphicFrame>
        <p:nvGraphicFramePr>
          <p:cNvPr id="5" name="Chart"/>
          <p:cNvGraphicFramePr>
            <a:graphicFrameLocks noGrp="1"/>
          </p:cNvGraphicFramePr>
          <p:nvPr/>
        </p:nvGraphicFramePr>
        <p:xfrm>
          <a:off x="1097280" y="1645920"/>
          <a:ext cx="99669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88720" y="5806440"/>
            <a:ext cx="74980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15120F"/>
                </a:solidFill>
                <a:latin typeface="Calibri"/>
              </a:rPr>
              <a:t>Beats fixed in almost every case; above ~20 sen, copying last year earns slightly more.</a:t>
            </a:r>
          </a:p>
        </p:txBody>
      </p:sp>
      <p:sp>
        <p:nvSpPr>
          <p:cNvPr id="7" name="Link https://wattwise-promax.netlify.app/tests.html#d">
            <a:hlinkClick r:id="rId4"/>
          </p:cNvPr>
          <p:cNvSpPr/>
          <p:nvPr/>
        </p:nvSpPr>
        <p:spPr>
          <a:xfrm>
            <a:off x="9052560" y="5806440"/>
            <a:ext cx="2468880" cy="502920"/>
          </a:xfrm>
          <a:prstGeom prst="roundRect">
            <a:avLst>
              <a:gd name="adj" fmla="val 50000"/>
            </a:avLst>
          </a:prstGeom>
          <a:solidFill>
            <a:srgbClr val="F7931E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Test it yourself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1097280" y="635508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767676"/>
                </a:solidFill>
                <a:latin typeface="Calibri"/>
              </a:rPr>
              <a:t>Real meters, 821 buildings (Miller et al., 2020); WattWise (2026).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ecor" descr="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2103120" y="274320"/>
            <a:ext cx="7955279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0">
                <a:solidFill>
                  <a:srgbClr val="15120F"/>
                </a:solidFill>
                <a:latin typeface="Arial Black"/>
              </a:rPr>
              <a:t>APPENDIX E: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509760" cy="4480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0">
                <a:solidFill>
                  <a:srgbClr val="15120F"/>
                </a:solidFill>
                <a:latin typeface="Calibri"/>
              </a:rPr>
              <a:t>Energy Commission (2025) Guidelines for Community Renewable Energy Aggregation Mechanism (CREAM), GP/ST/No.55/2025. Putrajaya: Suruhanjaya Tenaga.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0">
                <a:solidFill>
                  <a:srgbClr val="15120F"/>
                </a:solidFill>
                <a:latin typeface="Calibri"/>
              </a:rPr>
              <a:t>European Commission Joint Research Centre (2022) Photovoltaic Geographical Information System (PVGIS) 5.2. https://re.jrc.ec.europa.eu/pvg_tools/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0">
                <a:solidFill>
                  <a:srgbClr val="15120F"/>
                </a:solidFill>
                <a:latin typeface="Calibri"/>
              </a:rPr>
              <a:t>Miller, C. et al. (2020) 'The Building Data Genome Project 2', Scientific Data, 7, 368. https://doi.org/10.1038/s41597-020-00712-x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0">
                <a:solidFill>
                  <a:srgbClr val="15120F"/>
                </a:solidFill>
                <a:latin typeface="Calibri"/>
              </a:rPr>
              <a:t>Sime Darby Property (2026a) Integrated Annual Report 2025. Sime Darby Property (2026b) Sustainability Report 2025.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0">
                <a:solidFill>
                  <a:srgbClr val="15120F"/>
                </a:solidFill>
                <a:latin typeface="Calibri"/>
              </a:rPr>
              <a:t>Skrine (2025) Energy Commission issues guidelines for Malaysia's CREAM [Legal alert]. April.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0">
                <a:solidFill>
                  <a:srgbClr val="15120F"/>
                </a:solidFill>
                <a:latin typeface="Calibri"/>
              </a:rPr>
              <a:t>The Malaysian Reserve (2025) 'Sime Darby Property, TNB launch pilot solar project under CREAM to power homes, industries', 26 September.</a:t>
            </a:r>
          </a:p>
          <a:p>
            <a:pPr algn="l">
              <a:lnSpc>
                <a:spcPct val="110000"/>
              </a:lnSpc>
              <a:spcAft>
                <a:spcPts val="900"/>
              </a:spcAft>
            </a:pPr>
            <a:r>
              <a:rPr sz="1400" b="0">
                <a:solidFill>
                  <a:srgbClr val="15120F"/>
                </a:solidFill>
                <a:latin typeface="Calibri"/>
              </a:rPr>
              <a:t>WattWise (2026) WattWise code and results. https://github.com/ttc-099/Wattwise. Every figure is rebuilt by python replay.py in 02 Scheduler Module.</a:t>
            </a:r>
          </a:p>
        </p:txBody>
      </p:sp>
      <p:sp>
        <p:nvSpPr>
          <p:cNvPr id="5" name="Link https://wattwise-promax.netlify.app/tests.html#references">
            <a:hlinkClick r:id="rId3"/>
          </p:cNvPr>
          <p:cNvSpPr/>
          <p:nvPr/>
        </p:nvSpPr>
        <p:spPr>
          <a:xfrm>
            <a:off x="4297680" y="5897880"/>
            <a:ext cx="3566160" cy="502920"/>
          </a:xfrm>
          <a:prstGeom prst="roundRect">
            <a:avLst>
              <a:gd name="adj" fmla="val 50000"/>
            </a:avLst>
          </a:prstGeom>
          <a:solidFill>
            <a:srgbClr val="F7931E"/>
          </a:solidFill>
          <a:ln w="25400">
            <a:solidFill>
              <a:srgbClr val="1512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References in the testing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1541</Words>
  <Application>Microsoft Office PowerPoint</Application>
  <PresentationFormat>Widescreen</PresentationFormat>
  <Paragraphs>199</Paragraphs>
  <Slides>19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Arial Black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User</cp:lastModifiedBy>
  <cp:revision>4</cp:revision>
  <dcterms:created xsi:type="dcterms:W3CDTF">2013-01-27T09:14:16Z</dcterms:created>
  <dcterms:modified xsi:type="dcterms:W3CDTF">2026-10-21T17:25:57Z</dcterms:modified>
  <cp:category/>
</cp:coreProperties>
</file>